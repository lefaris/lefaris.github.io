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34_35B27996.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6"/>
  </p:notesMasterIdLst>
  <p:sldIdLst>
    <p:sldId id="308" r:id="rId5"/>
  </p:sldIdLst>
  <p:sldSz cx="43891200" cy="32918400"/>
  <p:notesSz cx="6950075" cy="9236075"/>
  <p:defaultTextStyle>
    <a:defPPr>
      <a:defRPr lang="en-US"/>
    </a:defPPr>
    <a:lvl1pPr marL="0" algn="l" defTabSz="2194560" rtl="0" eaLnBrk="1" latinLnBrk="0" hangingPunct="1">
      <a:defRPr sz="8600" kern="1200">
        <a:solidFill>
          <a:schemeClr val="tx1"/>
        </a:solidFill>
        <a:latin typeface="+mn-lt"/>
        <a:ea typeface="+mn-ea"/>
        <a:cs typeface="+mn-cs"/>
      </a:defRPr>
    </a:lvl1pPr>
    <a:lvl2pPr marL="2194560" algn="l" defTabSz="2194560" rtl="0" eaLnBrk="1" latinLnBrk="0" hangingPunct="1">
      <a:defRPr sz="8600" kern="1200">
        <a:solidFill>
          <a:schemeClr val="tx1"/>
        </a:solidFill>
        <a:latin typeface="+mn-lt"/>
        <a:ea typeface="+mn-ea"/>
        <a:cs typeface="+mn-cs"/>
      </a:defRPr>
    </a:lvl2pPr>
    <a:lvl3pPr marL="4389120" algn="l" defTabSz="2194560" rtl="0" eaLnBrk="1" latinLnBrk="0" hangingPunct="1">
      <a:defRPr sz="8600" kern="1200">
        <a:solidFill>
          <a:schemeClr val="tx1"/>
        </a:solidFill>
        <a:latin typeface="+mn-lt"/>
        <a:ea typeface="+mn-ea"/>
        <a:cs typeface="+mn-cs"/>
      </a:defRPr>
    </a:lvl3pPr>
    <a:lvl4pPr marL="6583680" algn="l" defTabSz="2194560" rtl="0" eaLnBrk="1" latinLnBrk="0" hangingPunct="1">
      <a:defRPr sz="8600" kern="1200">
        <a:solidFill>
          <a:schemeClr val="tx1"/>
        </a:solidFill>
        <a:latin typeface="+mn-lt"/>
        <a:ea typeface="+mn-ea"/>
        <a:cs typeface="+mn-cs"/>
      </a:defRPr>
    </a:lvl4pPr>
    <a:lvl5pPr marL="8778240" algn="l" defTabSz="2194560" rtl="0" eaLnBrk="1" latinLnBrk="0" hangingPunct="1">
      <a:defRPr sz="8600" kern="1200">
        <a:solidFill>
          <a:schemeClr val="tx1"/>
        </a:solidFill>
        <a:latin typeface="+mn-lt"/>
        <a:ea typeface="+mn-ea"/>
        <a:cs typeface="+mn-cs"/>
      </a:defRPr>
    </a:lvl5pPr>
    <a:lvl6pPr marL="10972800" algn="l" defTabSz="2194560" rtl="0" eaLnBrk="1" latinLnBrk="0" hangingPunct="1">
      <a:defRPr sz="8600" kern="1200">
        <a:solidFill>
          <a:schemeClr val="tx1"/>
        </a:solidFill>
        <a:latin typeface="+mn-lt"/>
        <a:ea typeface="+mn-ea"/>
        <a:cs typeface="+mn-cs"/>
      </a:defRPr>
    </a:lvl6pPr>
    <a:lvl7pPr marL="13167360" algn="l" defTabSz="2194560" rtl="0" eaLnBrk="1" latinLnBrk="0" hangingPunct="1">
      <a:defRPr sz="8600" kern="1200">
        <a:solidFill>
          <a:schemeClr val="tx1"/>
        </a:solidFill>
        <a:latin typeface="+mn-lt"/>
        <a:ea typeface="+mn-ea"/>
        <a:cs typeface="+mn-cs"/>
      </a:defRPr>
    </a:lvl7pPr>
    <a:lvl8pPr marL="15361920" algn="l" defTabSz="2194560" rtl="0" eaLnBrk="1" latinLnBrk="0" hangingPunct="1">
      <a:defRPr sz="8600" kern="1200">
        <a:solidFill>
          <a:schemeClr val="tx1"/>
        </a:solidFill>
        <a:latin typeface="+mn-lt"/>
        <a:ea typeface="+mn-ea"/>
        <a:cs typeface="+mn-cs"/>
      </a:defRPr>
    </a:lvl8pPr>
    <a:lvl9pPr marL="17556480" algn="l" defTabSz="219456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4124">
          <p15:clr>
            <a:srgbClr val="A4A3A4"/>
          </p15:clr>
        </p15:guide>
        <p15:guide id="2" orient="horz" pos="20231">
          <p15:clr>
            <a:srgbClr val="A4A3A4"/>
          </p15:clr>
        </p15:guide>
        <p15:guide id="3" orient="horz" pos="3912">
          <p15:clr>
            <a:srgbClr val="A4A3A4"/>
          </p15:clr>
        </p15:guide>
        <p15:guide id="4" orient="horz" pos="8587">
          <p15:clr>
            <a:srgbClr val="A4A3A4"/>
          </p15:clr>
        </p15:guide>
        <p15:guide id="5" orient="horz" pos="4163">
          <p15:clr>
            <a:srgbClr val="A4A3A4"/>
          </p15:clr>
        </p15:guide>
        <p15:guide id="6" pos="26856">
          <p15:clr>
            <a:srgbClr val="A4A3A4"/>
          </p15:clr>
        </p15:guide>
        <p15:guide id="7" pos="27200">
          <p15:clr>
            <a:srgbClr val="A4A3A4"/>
          </p15:clr>
        </p15:guide>
        <p15:guide id="8" pos="13584">
          <p15:clr>
            <a:srgbClr val="A4A3A4"/>
          </p15:clr>
        </p15:guide>
        <p15:guide id="9" pos="8556">
          <p15:clr>
            <a:srgbClr val="A4A3A4"/>
          </p15:clr>
        </p15:guide>
        <p15:guide id="10" pos="716">
          <p15:clr>
            <a:srgbClr val="A4A3A4"/>
          </p15:clr>
        </p15:guide>
        <p15:guide id="11" pos="7496">
          <p15:clr>
            <a:srgbClr val="A4A3A4"/>
          </p15:clr>
        </p15:guide>
        <p15:guide id="12" pos="21156">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9D12CBF-B75E-DE9D-F7AE-CDA431C9C48D}" name="Vishesh Vikas" initials="VV" userId="S::vvikas@ua.edu::08f66ba0-5c10-4b18-a8ca-6b46e8383d70" providerId="AD"/>
  <p188:author id="{C6F6E7F3-76ED-CAC8-D706-431344C0151D}" name="Chloe Flack" initials="CF" userId="CmHZLQkINXKIv8kpQj4WOpEP1+MuPiWACCXUdQii+FQ=" providerId="None"/>
</p188: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F0F0"/>
    <a:srgbClr val="F2F2F2"/>
    <a:srgbClr val="CE090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97" autoAdjust="0"/>
    <p:restoredTop sz="94645" autoAdjust="0"/>
  </p:normalViewPr>
  <p:slideViewPr>
    <p:cSldViewPr snapToGrid="0" snapToObjects="1">
      <p:cViewPr>
        <p:scale>
          <a:sx n="30" d="100"/>
          <a:sy n="30" d="100"/>
        </p:scale>
        <p:origin x="630" y="-90"/>
      </p:cViewPr>
      <p:guideLst>
        <p:guide orient="horz" pos="14124"/>
        <p:guide orient="horz" pos="20231"/>
        <p:guide orient="horz" pos="3912"/>
        <p:guide orient="horz" pos="8587"/>
        <p:guide orient="horz" pos="4163"/>
        <p:guide pos="26856"/>
        <p:guide pos="27200"/>
        <p:guide pos="13584"/>
        <p:guide pos="8556"/>
        <p:guide pos="716"/>
        <p:guide pos="7496"/>
        <p:guide pos="21156"/>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8/10/relationships/authors" Target="authors.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omments/modernComment_134_35B27996.xml><?xml version="1.0" encoding="utf-8"?>
<p188:cmLst xmlns:a="http://schemas.openxmlformats.org/drawingml/2006/main" xmlns:r="http://schemas.openxmlformats.org/officeDocument/2006/relationships" xmlns:p188="http://schemas.microsoft.com/office/powerpoint/2018/8/main">
  <p188:cm id="{DB808FC9-7743-40BD-A07F-14CD71675C66}" authorId="{C9D12CBF-B75E-DE9D-F7AE-CDA431C9C48D}" status="resolved" created="2023-08-14T16:18:40.797" complete="100000">
    <ac:txMkLst xmlns:ac="http://schemas.microsoft.com/office/drawing/2013/main/command">
      <pc:docMk xmlns:pc="http://schemas.microsoft.com/office/powerpoint/2013/main/command"/>
      <pc:sldMk xmlns:pc="http://schemas.microsoft.com/office/powerpoint/2013/main/command" cId="900888982" sldId="308"/>
      <ac:spMk id="36" creationId="{00000000-0000-0000-0000-000000000000}"/>
      <ac:txMk cp="519" len="18">
        <ac:context len="563" hash="4119897702"/>
      </ac:txMk>
    </ac:txMkLst>
    <p188:pos x="2660866" y="6059817"/>
    <p188:txBody>
      <a:bodyPr/>
      <a:lstStyle/>
      <a:p>
        <a:r>
          <a:rPr lang="en-US"/>
          <a:t>'two to twelve'</a:t>
        </a:r>
      </a:p>
    </p188:txBody>
  </p188:cm>
  <p188:cm id="{82A2B513-0EB6-455A-BB85-9423B1B93ABC}" authorId="{C9D12CBF-B75E-DE9D-F7AE-CDA431C9C48D}" status="resolved" created="2023-08-14T16:21:39.424" complete="100000">
    <ac:txMkLst xmlns:ac="http://schemas.microsoft.com/office/drawing/2013/main/command">
      <pc:docMk xmlns:pc="http://schemas.microsoft.com/office/powerpoint/2013/main/command"/>
      <pc:sldMk xmlns:pc="http://schemas.microsoft.com/office/powerpoint/2013/main/command" cId="900888982" sldId="308"/>
      <ac:spMk id="13" creationId="{7B4F3592-CA60-50DD-B233-66D1C8D9E224}"/>
      <ac:txMk cp="64" len="210">
        <ac:context len="974" hash="405460886"/>
      </ac:txMk>
    </ac:txMkLst>
    <p188:pos x="16059366" y="789271"/>
    <p188:txBody>
      <a:bodyPr/>
      <a:lstStyle/>
      <a:p>
        <a:r>
          <a:rPr lang="en-US"/>
          <a:t>The spherical link robots demonstrates three times the speed of the fastest straight-link counterpart. One of the contributing factors being that the continuous curved arcs are morphologically closer to wheels.</a:t>
        </a:r>
      </a:p>
    </p188:txBody>
  </p188:cm>
  <p188:cm id="{25AE8A94-4C7C-4DF4-8CAE-07A3C659C5BA}" authorId="{C9D12CBF-B75E-DE9D-F7AE-CDA431C9C48D}" status="resolved" created="2023-08-14T16:23:48.011" complete="100000">
    <ac:txMkLst xmlns:ac="http://schemas.microsoft.com/office/drawing/2013/main/command">
      <pc:docMk xmlns:pc="http://schemas.microsoft.com/office/powerpoint/2013/main/command"/>
      <pc:sldMk xmlns:pc="http://schemas.microsoft.com/office/powerpoint/2013/main/command" cId="900888982" sldId="308"/>
      <ac:spMk id="13" creationId="{7B4F3592-CA60-50DD-B233-66D1C8D9E224}"/>
      <ac:txMk cp="276" len="137">
        <ac:context len="974" hash="405460886"/>
      </ac:txMk>
    </ac:txMkLst>
    <p188:pos x="16059366" y="1678271"/>
    <p188:txBody>
      <a:bodyPr/>
      <a:lstStyle/>
      <a:p>
        <a:r>
          <a:rPr lang="en-US"/>
          <a:t>The reality gap – real-time movement in a non-lab setting – remains an unsolved problem from perspective of mobility, controls, and design.</a:t>
        </a:r>
      </a:p>
    </p188:txBody>
  </p188:cm>
  <p188:cm id="{85C0E9FE-8FF1-40B2-8ADA-A6A3C7559C66}" authorId="{C9D12CBF-B75E-DE9D-F7AE-CDA431C9C48D}" status="resolved" created="2023-08-14T16:26:09.108" complete="100000">
    <ac:deMkLst xmlns:ac="http://schemas.microsoft.com/office/drawing/2013/main/command">
      <pc:docMk xmlns:pc="http://schemas.microsoft.com/office/powerpoint/2013/main/command"/>
      <pc:sldMk xmlns:pc="http://schemas.microsoft.com/office/powerpoint/2013/main/command" cId="900888982" sldId="308"/>
      <ac:picMk id="62" creationId="{6BBB93B3-3756-0B26-4368-B9C64F2254F4}"/>
    </ac:deMkLst>
    <p188:txBody>
      <a:bodyPr/>
      <a:lstStyle/>
      <a:p>
        <a:r>
          <a:rPr lang="en-US"/>
          <a:t>Can you think about labelling the motor and other mechatronics components as "Mass" so that the viewer can connect to previous figure.</a:t>
        </a:r>
      </a:p>
    </p188:txBody>
  </p188:cm>
  <p188:cm id="{AF6FF2C7-052A-41FC-8F7B-91F8AF5A96B5}" authorId="{C9D12CBF-B75E-DE9D-F7AE-CDA431C9C48D}" status="resolved" created="2023-08-14T16:32:59.019" complete="100000">
    <ac:deMkLst xmlns:ac="http://schemas.microsoft.com/office/drawing/2013/main/command">
      <pc:docMk xmlns:pc="http://schemas.microsoft.com/office/powerpoint/2013/main/command"/>
      <pc:sldMk xmlns:pc="http://schemas.microsoft.com/office/powerpoint/2013/main/command" cId="900888982" sldId="308"/>
      <ac:picMk id="75" creationId="{2979BE78-7B1C-B6D0-F971-13F84DC18244}"/>
    </ac:deMkLst>
    <p188:txBody>
      <a:bodyPr/>
      <a:lstStyle/>
      <a:p>
        <a:r>
          <a:rPr lang="en-US"/>
          <a:t>\rightarrow not \Rightarrow in latex.
[]: R^:6\times1} \righatarrow se(3)</a:t>
        </a:r>
      </a:p>
    </p188:txBody>
  </p188:cm>
  <p188:cm id="{913797CF-D1DE-4351-A42B-867D32180465}" authorId="{C9D12CBF-B75E-DE9D-F7AE-CDA431C9C48D}" status="resolved" created="2023-08-14T16:34:47.619" complete="100000">
    <ac:deMkLst xmlns:ac="http://schemas.microsoft.com/office/drawing/2013/main/command">
      <pc:docMk xmlns:pc="http://schemas.microsoft.com/office/powerpoint/2013/main/command"/>
      <pc:sldMk xmlns:pc="http://schemas.microsoft.com/office/powerpoint/2013/main/command" cId="900888982" sldId="308"/>
      <ac:picMk id="68" creationId="{D4ACFD19-B367-CEA1-AF97-C430D29C292D}"/>
    </ac:deMkLst>
    <p188:txBody>
      <a:bodyPr/>
      <a:lstStyle/>
      <a:p>
        <a:r>
          <a:rPr lang="en-US"/>
          <a:t>You've mixed statics non-holonomic constraint (for dynamics). You may consider presenting `holonomic and statics' together and `non-holonomic and dynamics' separately (or not if it's getting too crowded). Statics itself has not been done for this.</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754D0C-67AE-4939-A1DA-FDB87C67352E}"/>
              </a:ext>
            </a:extLst>
          </p:cNvPr>
          <p:cNvSpPr>
            <a:spLocks noGrp="1"/>
          </p:cNvSpPr>
          <p:nvPr>
            <p:ph type="hdr" sz="quarter"/>
          </p:nvPr>
        </p:nvSpPr>
        <p:spPr>
          <a:xfrm>
            <a:off x="0" y="0"/>
            <a:ext cx="3011488" cy="463550"/>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059B30A-2EB7-457C-AEFE-734991433AD2}"/>
              </a:ext>
            </a:extLst>
          </p:cNvPr>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vl1pPr>
          </a:lstStyle>
          <a:p>
            <a:fld id="{0B42B9A2-9F12-447F-A6DC-77E62A0A00FF}" type="datetimeFigureOut">
              <a:rPr lang="en-US" smtClean="0"/>
              <a:t>8/15/2023</a:t>
            </a:fld>
            <a:endParaRPr lang="en-US"/>
          </a:p>
        </p:txBody>
      </p:sp>
      <p:sp>
        <p:nvSpPr>
          <p:cNvPr id="4" name="Slide Image Placeholder 3">
            <a:extLst>
              <a:ext uri="{FF2B5EF4-FFF2-40B4-BE49-F238E27FC236}">
                <a16:creationId xmlns:a16="http://schemas.microsoft.com/office/drawing/2014/main" id="{2F7B9AE0-D554-48C1-B0DB-E0E7EA6B6C3A}"/>
              </a:ext>
            </a:extLst>
          </p:cNvPr>
          <p:cNvSpPr>
            <a:spLocks noGrp="1" noRot="1" noChangeAspect="1"/>
          </p:cNvSpPr>
          <p:nvPr>
            <p:ph type="sldImg" idx="2"/>
          </p:nvPr>
        </p:nvSpPr>
        <p:spPr>
          <a:xfrm>
            <a:off x="1397000" y="1154113"/>
            <a:ext cx="4156075" cy="31178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a:extLst>
              <a:ext uri="{FF2B5EF4-FFF2-40B4-BE49-F238E27FC236}">
                <a16:creationId xmlns:a16="http://schemas.microsoft.com/office/drawing/2014/main" id="{21A2C5C8-3A14-45D3-8541-3511E8E81F2F}"/>
              </a:ext>
            </a:extLst>
          </p:cNvPr>
          <p:cNvSpPr>
            <a:spLocks noGrp="1"/>
          </p:cNvSpPr>
          <p:nvPr>
            <p:ph type="body" sz="quarter" idx="3"/>
          </p:nvPr>
        </p:nvSpPr>
        <p:spPr>
          <a:xfrm>
            <a:off x="695325" y="4445000"/>
            <a:ext cx="5559425" cy="363696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5D27797D-F3D1-4CB8-AB9E-CB47D8A29935}"/>
              </a:ext>
            </a:extLst>
          </p:cNvPr>
          <p:cNvSpPr>
            <a:spLocks noGrp="1"/>
          </p:cNvSpPr>
          <p:nvPr>
            <p:ph type="ftr" sz="quarter" idx="4"/>
          </p:nvPr>
        </p:nvSpPr>
        <p:spPr>
          <a:xfrm>
            <a:off x="0" y="8772525"/>
            <a:ext cx="3011488" cy="46355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a:extLst>
              <a:ext uri="{FF2B5EF4-FFF2-40B4-BE49-F238E27FC236}">
                <a16:creationId xmlns:a16="http://schemas.microsoft.com/office/drawing/2014/main" id="{9A111AD2-21B2-4C02-867C-E94B465FBB6B}"/>
              </a:ext>
            </a:extLst>
          </p:cNvPr>
          <p:cNvSpPr>
            <a:spLocks noGrp="1"/>
          </p:cNvSpPr>
          <p:nvPr>
            <p:ph type="sldNum" sz="quarter" idx="5"/>
          </p:nvPr>
        </p:nvSpPr>
        <p:spPr>
          <a:xfrm>
            <a:off x="3937000" y="8772525"/>
            <a:ext cx="3011488" cy="463550"/>
          </a:xfrm>
          <a:prstGeom prst="rect">
            <a:avLst/>
          </a:prstGeom>
        </p:spPr>
        <p:txBody>
          <a:bodyPr vert="horz" lIns="91440" tIns="45720" rIns="91440" bIns="45720" rtlCol="0" anchor="b"/>
          <a:lstStyle>
            <a:lvl1pPr algn="r">
              <a:defRPr sz="1200"/>
            </a:lvl1pPr>
          </a:lstStyle>
          <a:p>
            <a:fld id="{E084053E-C31E-45E5-8BF1-C36F219F9C8A}"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4B91E64-4B23-443B-98E5-695DC85266FA}" type="slidenum">
              <a:rPr lang="en-US" smtClean="0"/>
              <a:t>1</a:t>
            </a:fld>
            <a:endParaRPr lang="en-US"/>
          </a:p>
        </p:txBody>
      </p:sp>
    </p:spTree>
    <p:extLst>
      <p:ext uri="{BB962C8B-B14F-4D97-AF65-F5344CB8AC3E}">
        <p14:creationId xmlns:p14="http://schemas.microsoft.com/office/powerpoint/2010/main" val="42732135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10226042"/>
            <a:ext cx="37307520" cy="7056120"/>
          </a:xfrm>
        </p:spPr>
        <p:txBody>
          <a:bodyPr/>
          <a:lstStyle/>
          <a:p>
            <a:r>
              <a:rPr lang="en-US"/>
              <a:t>Click to edit Master title style</a:t>
            </a:r>
          </a:p>
        </p:txBody>
      </p:sp>
      <p:sp>
        <p:nvSpPr>
          <p:cNvPr id="3" name="Subtitle 2"/>
          <p:cNvSpPr>
            <a:spLocks noGrp="1"/>
          </p:cNvSpPr>
          <p:nvPr>
            <p:ph type="subTitle" idx="1"/>
          </p:nvPr>
        </p:nvSpPr>
        <p:spPr>
          <a:xfrm>
            <a:off x="6583680" y="18653760"/>
            <a:ext cx="30723840" cy="8412480"/>
          </a:xfrm>
        </p:spPr>
        <p:txBody>
          <a:bodyPr/>
          <a:lstStyle>
            <a:lvl1pPr marL="0" indent="0" algn="ctr">
              <a:buNone/>
              <a:defRPr>
                <a:solidFill>
                  <a:schemeClr val="tx1">
                    <a:tint val="75000"/>
                  </a:schemeClr>
                </a:solidFill>
              </a:defRPr>
            </a:lvl1pPr>
            <a:lvl2pPr marL="2194560" indent="0" algn="ctr">
              <a:buNone/>
              <a:defRPr>
                <a:solidFill>
                  <a:schemeClr val="tx1">
                    <a:tint val="75000"/>
                  </a:schemeClr>
                </a:solidFill>
              </a:defRPr>
            </a:lvl2pPr>
            <a:lvl3pPr marL="4389120" indent="0" algn="ctr">
              <a:buNone/>
              <a:defRPr>
                <a:solidFill>
                  <a:schemeClr val="tx1">
                    <a:tint val="75000"/>
                  </a:schemeClr>
                </a:solidFill>
              </a:defRPr>
            </a:lvl3pPr>
            <a:lvl4pPr marL="6583680" indent="0" algn="ctr">
              <a:buNone/>
              <a:defRPr>
                <a:solidFill>
                  <a:schemeClr val="tx1">
                    <a:tint val="75000"/>
                  </a:schemeClr>
                </a:solidFill>
              </a:defRPr>
            </a:lvl4pPr>
            <a:lvl5pPr marL="8778240" indent="0" algn="ctr">
              <a:buNone/>
              <a:defRPr>
                <a:solidFill>
                  <a:schemeClr val="tx1">
                    <a:tint val="75000"/>
                  </a:schemeClr>
                </a:solidFill>
              </a:defRPr>
            </a:lvl5pPr>
            <a:lvl6pPr marL="10972800" indent="0" algn="ctr">
              <a:buNone/>
              <a:defRPr>
                <a:solidFill>
                  <a:schemeClr val="tx1">
                    <a:tint val="75000"/>
                  </a:schemeClr>
                </a:solidFill>
              </a:defRPr>
            </a:lvl6pPr>
            <a:lvl7pPr marL="13167360" indent="0" algn="ctr">
              <a:buNone/>
              <a:defRPr>
                <a:solidFill>
                  <a:schemeClr val="tx1">
                    <a:tint val="75000"/>
                  </a:schemeClr>
                </a:solidFill>
              </a:defRPr>
            </a:lvl7pPr>
            <a:lvl8pPr marL="15361920" indent="0" algn="ctr">
              <a:buNone/>
              <a:defRPr>
                <a:solidFill>
                  <a:schemeClr val="tx1">
                    <a:tint val="75000"/>
                  </a:schemeClr>
                </a:solidFill>
              </a:defRPr>
            </a:lvl8pPr>
            <a:lvl9pPr marL="1755648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F99B772-97EF-5042-9D18-25A9CA496387}" type="datetimeFigureOut">
              <a:rPr lang="en-US" smtClean="0"/>
              <a:t>8/15/2023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FE175A-B276-214E-9728-14F430DAD678}" type="slidenum">
              <a:rPr lang="en-US" smtClean="0"/>
              <a:t>‹#›</a:t>
            </a:fld>
            <a:endParaRPr lang="en-US"/>
          </a:p>
        </p:txBody>
      </p:sp>
    </p:spTree>
    <p:extLst>
      <p:ext uri="{BB962C8B-B14F-4D97-AF65-F5344CB8AC3E}">
        <p14:creationId xmlns:p14="http://schemas.microsoft.com/office/powerpoint/2010/main" val="29560651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99B772-97EF-5042-9D18-25A9CA496387}" type="datetimeFigureOut">
              <a:rPr lang="en-US" smtClean="0"/>
              <a:t>8/15/2023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FE175A-B276-214E-9728-14F430DAD678}" type="slidenum">
              <a:rPr lang="en-US" smtClean="0"/>
              <a:t>‹#›</a:t>
            </a:fld>
            <a:endParaRPr lang="en-US"/>
          </a:p>
        </p:txBody>
      </p:sp>
    </p:spTree>
    <p:extLst>
      <p:ext uri="{BB962C8B-B14F-4D97-AF65-F5344CB8AC3E}">
        <p14:creationId xmlns:p14="http://schemas.microsoft.com/office/powerpoint/2010/main" val="25019919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2" y="21153122"/>
            <a:ext cx="37307520" cy="6537960"/>
          </a:xfrm>
        </p:spPr>
        <p:txBody>
          <a:bodyPr anchor="t"/>
          <a:lstStyle>
            <a:lvl1pPr algn="l">
              <a:defRPr sz="19200" b="1" cap="all"/>
            </a:lvl1pPr>
          </a:lstStyle>
          <a:p>
            <a:r>
              <a:rPr lang="en-US"/>
              <a:t>Click to edit Master title style</a:t>
            </a:r>
          </a:p>
        </p:txBody>
      </p:sp>
      <p:sp>
        <p:nvSpPr>
          <p:cNvPr id="3" name="Text Placeholder 2"/>
          <p:cNvSpPr>
            <a:spLocks noGrp="1"/>
          </p:cNvSpPr>
          <p:nvPr>
            <p:ph type="body" idx="1"/>
          </p:nvPr>
        </p:nvSpPr>
        <p:spPr>
          <a:xfrm>
            <a:off x="3467102" y="13952225"/>
            <a:ext cx="37307520" cy="7200898"/>
          </a:xfrm>
        </p:spPr>
        <p:txBody>
          <a:bodyPr anchor="b"/>
          <a:lstStyle>
            <a:lvl1pPr marL="0" indent="0">
              <a:buNone/>
              <a:defRPr sz="9600">
                <a:solidFill>
                  <a:schemeClr val="tx1">
                    <a:tint val="75000"/>
                  </a:schemeClr>
                </a:solidFill>
              </a:defRPr>
            </a:lvl1pPr>
            <a:lvl2pPr marL="2194560" indent="0">
              <a:buNone/>
              <a:defRPr sz="8600">
                <a:solidFill>
                  <a:schemeClr val="tx1">
                    <a:tint val="75000"/>
                  </a:schemeClr>
                </a:solidFill>
              </a:defRPr>
            </a:lvl2pPr>
            <a:lvl3pPr marL="4389120" indent="0">
              <a:buNone/>
              <a:defRPr sz="7700">
                <a:solidFill>
                  <a:schemeClr val="tx1">
                    <a:tint val="75000"/>
                  </a:schemeClr>
                </a:solidFill>
              </a:defRPr>
            </a:lvl3pPr>
            <a:lvl4pPr marL="6583680" indent="0">
              <a:buNone/>
              <a:defRPr sz="6700">
                <a:solidFill>
                  <a:schemeClr val="tx1">
                    <a:tint val="75000"/>
                  </a:schemeClr>
                </a:solidFill>
              </a:defRPr>
            </a:lvl4pPr>
            <a:lvl5pPr marL="8778240" indent="0">
              <a:buNone/>
              <a:defRPr sz="6700">
                <a:solidFill>
                  <a:schemeClr val="tx1">
                    <a:tint val="75000"/>
                  </a:schemeClr>
                </a:solidFill>
              </a:defRPr>
            </a:lvl5pPr>
            <a:lvl6pPr marL="10972800" indent="0">
              <a:buNone/>
              <a:defRPr sz="6700">
                <a:solidFill>
                  <a:schemeClr val="tx1">
                    <a:tint val="75000"/>
                  </a:schemeClr>
                </a:solidFill>
              </a:defRPr>
            </a:lvl6pPr>
            <a:lvl7pPr marL="13167360" indent="0">
              <a:buNone/>
              <a:defRPr sz="6700">
                <a:solidFill>
                  <a:schemeClr val="tx1">
                    <a:tint val="75000"/>
                  </a:schemeClr>
                </a:solidFill>
              </a:defRPr>
            </a:lvl7pPr>
            <a:lvl8pPr marL="15361920" indent="0">
              <a:buNone/>
              <a:defRPr sz="6700">
                <a:solidFill>
                  <a:schemeClr val="tx1">
                    <a:tint val="75000"/>
                  </a:schemeClr>
                </a:solidFill>
              </a:defRPr>
            </a:lvl8pPr>
            <a:lvl9pPr marL="17556480" indent="0">
              <a:buNone/>
              <a:defRPr sz="67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F99B772-97EF-5042-9D18-25A9CA496387}" type="datetimeFigureOut">
              <a:rPr lang="en-US" smtClean="0"/>
              <a:t>8/15/2023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FE175A-B276-214E-9728-14F430DAD678}" type="slidenum">
              <a:rPr lang="en-US" smtClean="0"/>
              <a:t>‹#›</a:t>
            </a:fld>
            <a:endParaRPr lang="en-US"/>
          </a:p>
        </p:txBody>
      </p:sp>
    </p:spTree>
    <p:extLst>
      <p:ext uri="{BB962C8B-B14F-4D97-AF65-F5344CB8AC3E}">
        <p14:creationId xmlns:p14="http://schemas.microsoft.com/office/powerpoint/2010/main" val="3548346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194560" y="7680963"/>
            <a:ext cx="19385280" cy="21724622"/>
          </a:xfrm>
        </p:spPr>
        <p:txBody>
          <a:bodyPr/>
          <a:lstStyle>
            <a:lvl1pPr>
              <a:defRPr sz="13400"/>
            </a:lvl1pPr>
            <a:lvl2pPr>
              <a:defRPr sz="11500"/>
            </a:lvl2pPr>
            <a:lvl3pPr>
              <a:defRPr sz="9600"/>
            </a:lvl3pPr>
            <a:lvl4pPr>
              <a:defRPr sz="8600"/>
            </a:lvl4pPr>
            <a:lvl5pPr>
              <a:defRPr sz="8600"/>
            </a:lvl5pPr>
            <a:lvl6pPr>
              <a:defRPr sz="8600"/>
            </a:lvl6pPr>
            <a:lvl7pPr>
              <a:defRPr sz="8600"/>
            </a:lvl7pPr>
            <a:lvl8pPr>
              <a:defRPr sz="8600"/>
            </a:lvl8pPr>
            <a:lvl9pPr>
              <a:defRPr sz="8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2311360" y="7680963"/>
            <a:ext cx="19385280" cy="21724622"/>
          </a:xfrm>
        </p:spPr>
        <p:txBody>
          <a:bodyPr/>
          <a:lstStyle>
            <a:lvl1pPr>
              <a:defRPr sz="13400"/>
            </a:lvl1pPr>
            <a:lvl2pPr>
              <a:defRPr sz="11500"/>
            </a:lvl2pPr>
            <a:lvl3pPr>
              <a:defRPr sz="9600"/>
            </a:lvl3pPr>
            <a:lvl4pPr>
              <a:defRPr sz="8600"/>
            </a:lvl4pPr>
            <a:lvl5pPr>
              <a:defRPr sz="8600"/>
            </a:lvl5pPr>
            <a:lvl6pPr>
              <a:defRPr sz="8600"/>
            </a:lvl6pPr>
            <a:lvl7pPr>
              <a:defRPr sz="8600"/>
            </a:lvl7pPr>
            <a:lvl8pPr>
              <a:defRPr sz="8600"/>
            </a:lvl8pPr>
            <a:lvl9pPr>
              <a:defRPr sz="8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F99B772-97EF-5042-9D18-25A9CA496387}" type="datetimeFigureOut">
              <a:rPr lang="en-US" smtClean="0"/>
              <a:t>8/15/2023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FE175A-B276-214E-9728-14F430DAD678}" type="slidenum">
              <a:rPr lang="en-US" smtClean="0"/>
              <a:t>‹#›</a:t>
            </a:fld>
            <a:endParaRPr lang="en-US"/>
          </a:p>
        </p:txBody>
      </p:sp>
    </p:spTree>
    <p:extLst>
      <p:ext uri="{BB962C8B-B14F-4D97-AF65-F5344CB8AC3E}">
        <p14:creationId xmlns:p14="http://schemas.microsoft.com/office/powerpoint/2010/main" val="29062397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94560" y="7368542"/>
            <a:ext cx="19392902" cy="3070858"/>
          </a:xfrm>
        </p:spPr>
        <p:txBody>
          <a:bodyPr anchor="b"/>
          <a:lstStyle>
            <a:lvl1pPr marL="0" indent="0">
              <a:buNone/>
              <a:defRPr sz="11500" b="1"/>
            </a:lvl1pPr>
            <a:lvl2pPr marL="2194560" indent="0">
              <a:buNone/>
              <a:defRPr sz="9600" b="1"/>
            </a:lvl2pPr>
            <a:lvl3pPr marL="4389120" indent="0">
              <a:buNone/>
              <a:defRPr sz="8600" b="1"/>
            </a:lvl3pPr>
            <a:lvl4pPr marL="6583680" indent="0">
              <a:buNone/>
              <a:defRPr sz="7700" b="1"/>
            </a:lvl4pPr>
            <a:lvl5pPr marL="8778240" indent="0">
              <a:buNone/>
              <a:defRPr sz="7700" b="1"/>
            </a:lvl5pPr>
            <a:lvl6pPr marL="10972800" indent="0">
              <a:buNone/>
              <a:defRPr sz="7700" b="1"/>
            </a:lvl6pPr>
            <a:lvl7pPr marL="13167360" indent="0">
              <a:buNone/>
              <a:defRPr sz="7700" b="1"/>
            </a:lvl7pPr>
            <a:lvl8pPr marL="15361920" indent="0">
              <a:buNone/>
              <a:defRPr sz="7700" b="1"/>
            </a:lvl8pPr>
            <a:lvl9pPr marL="17556480" indent="0">
              <a:buNone/>
              <a:defRPr sz="7700" b="1"/>
            </a:lvl9pPr>
          </a:lstStyle>
          <a:p>
            <a:pPr lvl="0"/>
            <a:r>
              <a:rPr lang="en-US"/>
              <a:t>Click to edit Master text styles</a:t>
            </a:r>
          </a:p>
        </p:txBody>
      </p:sp>
      <p:sp>
        <p:nvSpPr>
          <p:cNvPr id="4" name="Content Placeholder 3"/>
          <p:cNvSpPr>
            <a:spLocks noGrp="1"/>
          </p:cNvSpPr>
          <p:nvPr>
            <p:ph sz="half" idx="2"/>
          </p:nvPr>
        </p:nvSpPr>
        <p:spPr>
          <a:xfrm>
            <a:off x="2194560" y="10439400"/>
            <a:ext cx="19392902" cy="18966182"/>
          </a:xfrm>
        </p:spPr>
        <p:txBody>
          <a:bodyPr/>
          <a:lstStyle>
            <a:lvl1pPr>
              <a:defRPr sz="11500"/>
            </a:lvl1pPr>
            <a:lvl2pPr>
              <a:defRPr sz="9600"/>
            </a:lvl2pPr>
            <a:lvl3pPr>
              <a:defRPr sz="8600"/>
            </a:lvl3pPr>
            <a:lvl4pPr>
              <a:defRPr sz="7700"/>
            </a:lvl4pPr>
            <a:lvl5pPr>
              <a:defRPr sz="7700"/>
            </a:lvl5pPr>
            <a:lvl6pPr>
              <a:defRPr sz="7700"/>
            </a:lvl6pPr>
            <a:lvl7pPr>
              <a:defRPr sz="7700"/>
            </a:lvl7pPr>
            <a:lvl8pPr>
              <a:defRPr sz="7700"/>
            </a:lvl8pPr>
            <a:lvl9pPr>
              <a:defRPr sz="7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6122" y="7368542"/>
            <a:ext cx="19400520" cy="3070858"/>
          </a:xfrm>
        </p:spPr>
        <p:txBody>
          <a:bodyPr anchor="b"/>
          <a:lstStyle>
            <a:lvl1pPr marL="0" indent="0">
              <a:buNone/>
              <a:defRPr sz="11500" b="1"/>
            </a:lvl1pPr>
            <a:lvl2pPr marL="2194560" indent="0">
              <a:buNone/>
              <a:defRPr sz="9600" b="1"/>
            </a:lvl2pPr>
            <a:lvl3pPr marL="4389120" indent="0">
              <a:buNone/>
              <a:defRPr sz="8600" b="1"/>
            </a:lvl3pPr>
            <a:lvl4pPr marL="6583680" indent="0">
              <a:buNone/>
              <a:defRPr sz="7700" b="1"/>
            </a:lvl4pPr>
            <a:lvl5pPr marL="8778240" indent="0">
              <a:buNone/>
              <a:defRPr sz="7700" b="1"/>
            </a:lvl5pPr>
            <a:lvl6pPr marL="10972800" indent="0">
              <a:buNone/>
              <a:defRPr sz="7700" b="1"/>
            </a:lvl6pPr>
            <a:lvl7pPr marL="13167360" indent="0">
              <a:buNone/>
              <a:defRPr sz="7700" b="1"/>
            </a:lvl7pPr>
            <a:lvl8pPr marL="15361920" indent="0">
              <a:buNone/>
              <a:defRPr sz="7700" b="1"/>
            </a:lvl8pPr>
            <a:lvl9pPr marL="17556480" indent="0">
              <a:buNone/>
              <a:defRPr sz="7700" b="1"/>
            </a:lvl9pPr>
          </a:lstStyle>
          <a:p>
            <a:pPr lvl="0"/>
            <a:r>
              <a:rPr lang="en-US"/>
              <a:t>Click to edit Master text styles</a:t>
            </a:r>
          </a:p>
        </p:txBody>
      </p:sp>
      <p:sp>
        <p:nvSpPr>
          <p:cNvPr id="6" name="Content Placeholder 5"/>
          <p:cNvSpPr>
            <a:spLocks noGrp="1"/>
          </p:cNvSpPr>
          <p:nvPr>
            <p:ph sz="quarter" idx="4"/>
          </p:nvPr>
        </p:nvSpPr>
        <p:spPr>
          <a:xfrm>
            <a:off x="22296122" y="10439400"/>
            <a:ext cx="19400520" cy="18966182"/>
          </a:xfrm>
        </p:spPr>
        <p:txBody>
          <a:bodyPr/>
          <a:lstStyle>
            <a:lvl1pPr>
              <a:defRPr sz="11500"/>
            </a:lvl1pPr>
            <a:lvl2pPr>
              <a:defRPr sz="9600"/>
            </a:lvl2pPr>
            <a:lvl3pPr>
              <a:defRPr sz="8600"/>
            </a:lvl3pPr>
            <a:lvl4pPr>
              <a:defRPr sz="7700"/>
            </a:lvl4pPr>
            <a:lvl5pPr>
              <a:defRPr sz="7700"/>
            </a:lvl5pPr>
            <a:lvl6pPr>
              <a:defRPr sz="7700"/>
            </a:lvl6pPr>
            <a:lvl7pPr>
              <a:defRPr sz="7700"/>
            </a:lvl7pPr>
            <a:lvl8pPr>
              <a:defRPr sz="7700"/>
            </a:lvl8pPr>
            <a:lvl9pPr>
              <a:defRPr sz="7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F99B772-97EF-5042-9D18-25A9CA496387}" type="datetimeFigureOut">
              <a:rPr lang="en-US" smtClean="0"/>
              <a:t>8/15/2023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AFE175A-B276-214E-9728-14F430DAD678}" type="slidenum">
              <a:rPr lang="en-US" smtClean="0"/>
              <a:t>‹#›</a:t>
            </a:fld>
            <a:endParaRPr lang="en-US"/>
          </a:p>
        </p:txBody>
      </p:sp>
    </p:spTree>
    <p:extLst>
      <p:ext uri="{BB962C8B-B14F-4D97-AF65-F5344CB8AC3E}">
        <p14:creationId xmlns:p14="http://schemas.microsoft.com/office/powerpoint/2010/main" val="38744385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F99B772-97EF-5042-9D18-25A9CA496387}" type="datetimeFigureOut">
              <a:rPr lang="en-US" smtClean="0"/>
              <a:t>8/15/2023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FE175A-B276-214E-9728-14F430DAD678}" type="slidenum">
              <a:rPr lang="en-US" smtClean="0"/>
              <a:t>‹#›</a:t>
            </a:fld>
            <a:endParaRPr lang="en-US"/>
          </a:p>
        </p:txBody>
      </p:sp>
    </p:spTree>
    <p:extLst>
      <p:ext uri="{BB962C8B-B14F-4D97-AF65-F5344CB8AC3E}">
        <p14:creationId xmlns:p14="http://schemas.microsoft.com/office/powerpoint/2010/main" val="39532251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99B772-97EF-5042-9D18-25A9CA496387}" type="datetimeFigureOut">
              <a:rPr lang="en-US" smtClean="0"/>
              <a:t>8/15/2023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AFE175A-B276-214E-9728-14F430DAD678}" type="slidenum">
              <a:rPr lang="en-US" smtClean="0"/>
              <a:t>‹#›</a:t>
            </a:fld>
            <a:endParaRPr lang="en-US"/>
          </a:p>
        </p:txBody>
      </p:sp>
    </p:spTree>
    <p:extLst>
      <p:ext uri="{BB962C8B-B14F-4D97-AF65-F5344CB8AC3E}">
        <p14:creationId xmlns:p14="http://schemas.microsoft.com/office/powerpoint/2010/main" val="21781782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563" y="1310640"/>
            <a:ext cx="14439902" cy="5577840"/>
          </a:xfrm>
        </p:spPr>
        <p:txBody>
          <a:bodyPr anchor="b"/>
          <a:lstStyle>
            <a:lvl1pPr algn="l">
              <a:defRPr sz="9600" b="1"/>
            </a:lvl1pPr>
          </a:lstStyle>
          <a:p>
            <a:r>
              <a:rPr lang="en-US"/>
              <a:t>Click to edit Master title style</a:t>
            </a:r>
          </a:p>
        </p:txBody>
      </p:sp>
      <p:sp>
        <p:nvSpPr>
          <p:cNvPr id="3" name="Content Placeholder 2"/>
          <p:cNvSpPr>
            <a:spLocks noGrp="1"/>
          </p:cNvSpPr>
          <p:nvPr>
            <p:ph idx="1"/>
          </p:nvPr>
        </p:nvSpPr>
        <p:spPr>
          <a:xfrm>
            <a:off x="17160240" y="1310643"/>
            <a:ext cx="24536400" cy="28094942"/>
          </a:xfrm>
        </p:spPr>
        <p:txBody>
          <a:bodyPr/>
          <a:lstStyle>
            <a:lvl1pPr>
              <a:defRPr sz="15400"/>
            </a:lvl1pPr>
            <a:lvl2pPr>
              <a:defRPr sz="13400"/>
            </a:lvl2pPr>
            <a:lvl3pPr>
              <a:defRPr sz="11500"/>
            </a:lvl3pPr>
            <a:lvl4pPr>
              <a:defRPr sz="9600"/>
            </a:lvl4pPr>
            <a:lvl5pPr>
              <a:defRPr sz="9600"/>
            </a:lvl5pPr>
            <a:lvl6pPr>
              <a:defRPr sz="9600"/>
            </a:lvl6pPr>
            <a:lvl7pPr>
              <a:defRPr sz="9600"/>
            </a:lvl7pPr>
            <a:lvl8pPr>
              <a:defRPr sz="9600"/>
            </a:lvl8pPr>
            <a:lvl9pPr>
              <a:defRPr sz="9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4563" y="6888483"/>
            <a:ext cx="14439902" cy="22517102"/>
          </a:xfrm>
        </p:spPr>
        <p:txBody>
          <a:bodyPr/>
          <a:lstStyle>
            <a:lvl1pPr marL="0" indent="0">
              <a:buNone/>
              <a:defRPr sz="6700"/>
            </a:lvl1pPr>
            <a:lvl2pPr marL="2194560" indent="0">
              <a:buNone/>
              <a:defRPr sz="5800"/>
            </a:lvl2pPr>
            <a:lvl3pPr marL="4389120" indent="0">
              <a:buNone/>
              <a:defRPr sz="4800"/>
            </a:lvl3pPr>
            <a:lvl4pPr marL="6583680" indent="0">
              <a:buNone/>
              <a:defRPr sz="4300"/>
            </a:lvl4pPr>
            <a:lvl5pPr marL="8778240" indent="0">
              <a:buNone/>
              <a:defRPr sz="4300"/>
            </a:lvl5pPr>
            <a:lvl6pPr marL="10972800" indent="0">
              <a:buNone/>
              <a:defRPr sz="4300"/>
            </a:lvl6pPr>
            <a:lvl7pPr marL="13167360" indent="0">
              <a:buNone/>
              <a:defRPr sz="4300"/>
            </a:lvl7pPr>
            <a:lvl8pPr marL="15361920" indent="0">
              <a:buNone/>
              <a:defRPr sz="4300"/>
            </a:lvl8pPr>
            <a:lvl9pPr marL="17556480" indent="0">
              <a:buNone/>
              <a:defRPr sz="4300"/>
            </a:lvl9pPr>
          </a:lstStyle>
          <a:p>
            <a:pPr lvl="0"/>
            <a:r>
              <a:rPr lang="en-US"/>
              <a:t>Click to edit Master text styles</a:t>
            </a:r>
          </a:p>
        </p:txBody>
      </p:sp>
      <p:sp>
        <p:nvSpPr>
          <p:cNvPr id="5" name="Date Placeholder 4"/>
          <p:cNvSpPr>
            <a:spLocks noGrp="1"/>
          </p:cNvSpPr>
          <p:nvPr>
            <p:ph type="dt" sz="half" idx="10"/>
          </p:nvPr>
        </p:nvSpPr>
        <p:spPr/>
        <p:txBody>
          <a:bodyPr/>
          <a:lstStyle/>
          <a:p>
            <a:fld id="{1F99B772-97EF-5042-9D18-25A9CA496387}" type="datetimeFigureOut">
              <a:rPr lang="en-US" smtClean="0"/>
              <a:t>8/15/2023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FE175A-B276-214E-9728-14F430DAD678}" type="slidenum">
              <a:rPr lang="en-US" smtClean="0"/>
              <a:t>‹#›</a:t>
            </a:fld>
            <a:endParaRPr lang="en-US"/>
          </a:p>
        </p:txBody>
      </p:sp>
    </p:spTree>
    <p:extLst>
      <p:ext uri="{BB962C8B-B14F-4D97-AF65-F5344CB8AC3E}">
        <p14:creationId xmlns:p14="http://schemas.microsoft.com/office/powerpoint/2010/main" val="13168436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982" y="23042880"/>
            <a:ext cx="26334720" cy="2720342"/>
          </a:xfrm>
        </p:spPr>
        <p:txBody>
          <a:bodyPr anchor="b"/>
          <a:lstStyle>
            <a:lvl1pPr algn="l">
              <a:defRPr sz="9600" b="1"/>
            </a:lvl1pPr>
          </a:lstStyle>
          <a:p>
            <a:r>
              <a:rPr lang="en-US"/>
              <a:t>Click to edit Master title style</a:t>
            </a:r>
          </a:p>
        </p:txBody>
      </p:sp>
      <p:sp>
        <p:nvSpPr>
          <p:cNvPr id="3" name="Picture Placeholder 2"/>
          <p:cNvSpPr>
            <a:spLocks noGrp="1"/>
          </p:cNvSpPr>
          <p:nvPr>
            <p:ph type="pic" idx="1"/>
          </p:nvPr>
        </p:nvSpPr>
        <p:spPr>
          <a:xfrm>
            <a:off x="8602982" y="2941320"/>
            <a:ext cx="26334720" cy="19751040"/>
          </a:xfrm>
        </p:spPr>
        <p:txBody>
          <a:bodyPr/>
          <a:lstStyle>
            <a:lvl1pPr marL="0" indent="0">
              <a:buNone/>
              <a:defRPr sz="15400"/>
            </a:lvl1pPr>
            <a:lvl2pPr marL="2194560" indent="0">
              <a:buNone/>
              <a:defRPr sz="13400"/>
            </a:lvl2pPr>
            <a:lvl3pPr marL="4389120" indent="0">
              <a:buNone/>
              <a:defRPr sz="1150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r>
              <a:rPr lang="en-US"/>
              <a:t>Drag picture to placeholder or click icon to add</a:t>
            </a:r>
          </a:p>
        </p:txBody>
      </p:sp>
      <p:sp>
        <p:nvSpPr>
          <p:cNvPr id="4" name="Text Placeholder 3"/>
          <p:cNvSpPr>
            <a:spLocks noGrp="1"/>
          </p:cNvSpPr>
          <p:nvPr>
            <p:ph type="body" sz="half" idx="2"/>
          </p:nvPr>
        </p:nvSpPr>
        <p:spPr>
          <a:xfrm>
            <a:off x="8602982" y="25763222"/>
            <a:ext cx="26334720" cy="3863338"/>
          </a:xfrm>
        </p:spPr>
        <p:txBody>
          <a:bodyPr/>
          <a:lstStyle>
            <a:lvl1pPr marL="0" indent="0">
              <a:buNone/>
              <a:defRPr sz="6700"/>
            </a:lvl1pPr>
            <a:lvl2pPr marL="2194560" indent="0">
              <a:buNone/>
              <a:defRPr sz="5800"/>
            </a:lvl2pPr>
            <a:lvl3pPr marL="4389120" indent="0">
              <a:buNone/>
              <a:defRPr sz="4800"/>
            </a:lvl3pPr>
            <a:lvl4pPr marL="6583680" indent="0">
              <a:buNone/>
              <a:defRPr sz="4300"/>
            </a:lvl4pPr>
            <a:lvl5pPr marL="8778240" indent="0">
              <a:buNone/>
              <a:defRPr sz="4300"/>
            </a:lvl5pPr>
            <a:lvl6pPr marL="10972800" indent="0">
              <a:buNone/>
              <a:defRPr sz="4300"/>
            </a:lvl6pPr>
            <a:lvl7pPr marL="13167360" indent="0">
              <a:buNone/>
              <a:defRPr sz="4300"/>
            </a:lvl7pPr>
            <a:lvl8pPr marL="15361920" indent="0">
              <a:buNone/>
              <a:defRPr sz="4300"/>
            </a:lvl8pPr>
            <a:lvl9pPr marL="17556480" indent="0">
              <a:buNone/>
              <a:defRPr sz="4300"/>
            </a:lvl9pPr>
          </a:lstStyle>
          <a:p>
            <a:pPr lvl="0"/>
            <a:r>
              <a:rPr lang="en-US"/>
              <a:t>Click to edit Master text styles</a:t>
            </a:r>
          </a:p>
        </p:txBody>
      </p:sp>
      <p:sp>
        <p:nvSpPr>
          <p:cNvPr id="5" name="Date Placeholder 4"/>
          <p:cNvSpPr>
            <a:spLocks noGrp="1"/>
          </p:cNvSpPr>
          <p:nvPr>
            <p:ph type="dt" sz="half" idx="10"/>
          </p:nvPr>
        </p:nvSpPr>
        <p:spPr/>
        <p:txBody>
          <a:bodyPr/>
          <a:lstStyle/>
          <a:p>
            <a:fld id="{1F99B772-97EF-5042-9D18-25A9CA496387}" type="datetimeFigureOut">
              <a:rPr lang="en-US" smtClean="0"/>
              <a:t>8/15/2023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FE175A-B276-214E-9728-14F430DAD678}" type="slidenum">
              <a:rPr lang="en-US" smtClean="0"/>
              <a:t>‹#›</a:t>
            </a:fld>
            <a:endParaRPr lang="en-US"/>
          </a:p>
        </p:txBody>
      </p:sp>
    </p:spTree>
    <p:extLst>
      <p:ext uri="{BB962C8B-B14F-4D97-AF65-F5344CB8AC3E}">
        <p14:creationId xmlns:p14="http://schemas.microsoft.com/office/powerpoint/2010/main" val="26511456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99B772-97EF-5042-9D18-25A9CA496387}" type="datetimeFigureOut">
              <a:rPr lang="en-US" smtClean="0"/>
              <a:t>8/15/2023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FE175A-B276-214E-9728-14F430DAD678}" type="slidenum">
              <a:rPr lang="en-US" smtClean="0"/>
              <a:t>‹#›</a:t>
            </a:fld>
            <a:endParaRPr lang="en-US"/>
          </a:p>
        </p:txBody>
      </p:sp>
    </p:spTree>
    <p:extLst>
      <p:ext uri="{BB962C8B-B14F-4D97-AF65-F5344CB8AC3E}">
        <p14:creationId xmlns:p14="http://schemas.microsoft.com/office/powerpoint/2010/main" val="20657513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821120" y="1318265"/>
            <a:ext cx="9875520" cy="2808732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194560" y="1318265"/>
            <a:ext cx="28895040" cy="2808732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99B772-97EF-5042-9D18-25A9CA496387}" type="datetimeFigureOut">
              <a:rPr lang="en-US" smtClean="0"/>
              <a:t>8/15/2023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FE175A-B276-214E-9728-14F430DAD678}" type="slidenum">
              <a:rPr lang="en-US" smtClean="0"/>
              <a:t>‹#›</a:t>
            </a:fld>
            <a:endParaRPr lang="en-US"/>
          </a:p>
        </p:txBody>
      </p:sp>
    </p:spTree>
    <p:extLst>
      <p:ext uri="{BB962C8B-B14F-4D97-AF65-F5344CB8AC3E}">
        <p14:creationId xmlns:p14="http://schemas.microsoft.com/office/powerpoint/2010/main" val="19894010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194560" y="1318262"/>
            <a:ext cx="39502080" cy="5486400"/>
          </a:xfrm>
          <a:prstGeom prst="rect">
            <a:avLst/>
          </a:prstGeom>
        </p:spPr>
        <p:txBody>
          <a:bodyPr vert="horz" lIns="438912" tIns="219456" rIns="438912" bIns="219456" rtlCol="0" anchor="ctr">
            <a:normAutofit/>
          </a:bodyPr>
          <a:lstStyle/>
          <a:p>
            <a:r>
              <a:rPr lang="en-US"/>
              <a:t>Click to edit Master title style</a:t>
            </a:r>
          </a:p>
        </p:txBody>
      </p:sp>
      <p:sp>
        <p:nvSpPr>
          <p:cNvPr id="3" name="Text Placeholder 2"/>
          <p:cNvSpPr>
            <a:spLocks noGrp="1"/>
          </p:cNvSpPr>
          <p:nvPr>
            <p:ph type="body" idx="1"/>
          </p:nvPr>
        </p:nvSpPr>
        <p:spPr>
          <a:xfrm>
            <a:off x="2194560" y="7680963"/>
            <a:ext cx="39502080" cy="21724622"/>
          </a:xfrm>
          <a:prstGeom prst="rect">
            <a:avLst/>
          </a:prstGeom>
        </p:spPr>
        <p:txBody>
          <a:bodyPr vert="horz" lIns="438912" tIns="219456" rIns="438912" bIns="219456"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194560" y="30510482"/>
            <a:ext cx="10241280" cy="1752600"/>
          </a:xfrm>
          <a:prstGeom prst="rect">
            <a:avLst/>
          </a:prstGeom>
        </p:spPr>
        <p:txBody>
          <a:bodyPr vert="horz" lIns="438912" tIns="219456" rIns="438912" bIns="219456" rtlCol="0" anchor="ctr"/>
          <a:lstStyle>
            <a:lvl1pPr algn="l">
              <a:defRPr sz="5800">
                <a:solidFill>
                  <a:schemeClr val="tx1">
                    <a:tint val="75000"/>
                  </a:schemeClr>
                </a:solidFill>
              </a:defRPr>
            </a:lvl1pPr>
          </a:lstStyle>
          <a:p>
            <a:fld id="{1F99B772-97EF-5042-9D18-25A9CA496387}" type="datetimeFigureOut">
              <a:rPr lang="en-US" smtClean="0"/>
              <a:t>8/15/2023</a:t>
            </a:fld>
            <a:endParaRPr lang="en-US"/>
          </a:p>
        </p:txBody>
      </p:sp>
      <p:sp>
        <p:nvSpPr>
          <p:cNvPr id="5" name="Footer Placeholder 4"/>
          <p:cNvSpPr>
            <a:spLocks noGrp="1"/>
          </p:cNvSpPr>
          <p:nvPr>
            <p:ph type="ftr" sz="quarter" idx="3"/>
          </p:nvPr>
        </p:nvSpPr>
        <p:spPr>
          <a:xfrm>
            <a:off x="14996160" y="30510482"/>
            <a:ext cx="13898880" cy="1752600"/>
          </a:xfrm>
          <a:prstGeom prst="rect">
            <a:avLst/>
          </a:prstGeom>
        </p:spPr>
        <p:txBody>
          <a:bodyPr vert="horz" lIns="438912" tIns="219456" rIns="438912" bIns="219456" rtlCol="0" anchor="ctr"/>
          <a:lstStyle>
            <a:lvl1pPr algn="ctr">
              <a:defRPr sz="5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1455360" y="30510482"/>
            <a:ext cx="10241280" cy="1752600"/>
          </a:xfrm>
          <a:prstGeom prst="rect">
            <a:avLst/>
          </a:prstGeom>
        </p:spPr>
        <p:txBody>
          <a:bodyPr vert="horz" lIns="438912" tIns="219456" rIns="438912" bIns="219456" rtlCol="0" anchor="ctr"/>
          <a:lstStyle>
            <a:lvl1pPr algn="r">
              <a:defRPr sz="5800">
                <a:solidFill>
                  <a:schemeClr val="tx1">
                    <a:tint val="75000"/>
                  </a:schemeClr>
                </a:solidFill>
              </a:defRPr>
            </a:lvl1pPr>
          </a:lstStyle>
          <a:p>
            <a:fld id="{1AFE175A-B276-214E-9728-14F430DAD678}" type="slidenum">
              <a:rPr lang="en-US" smtClean="0"/>
              <a:t>‹#›</a:t>
            </a:fld>
            <a:endParaRPr lang="en-US"/>
          </a:p>
        </p:txBody>
      </p:sp>
    </p:spTree>
    <p:extLst>
      <p:ext uri="{BB962C8B-B14F-4D97-AF65-F5344CB8AC3E}">
        <p14:creationId xmlns:p14="http://schemas.microsoft.com/office/powerpoint/2010/main" val="27469708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2194560" rtl="0" eaLnBrk="1" latinLnBrk="0" hangingPunct="1">
        <a:spcBef>
          <a:spcPct val="0"/>
        </a:spcBef>
        <a:buNone/>
        <a:defRPr sz="21100" kern="1200">
          <a:solidFill>
            <a:schemeClr val="tx1"/>
          </a:solidFill>
          <a:latin typeface="+mj-lt"/>
          <a:ea typeface="+mj-ea"/>
          <a:cs typeface="+mj-cs"/>
        </a:defRPr>
      </a:lvl1pPr>
    </p:titleStyle>
    <p:bodyStyle>
      <a:lvl1pPr marL="1645920" indent="-1645920" algn="l" defTabSz="2194560" rtl="0" eaLnBrk="1" latinLnBrk="0" hangingPunct="1">
        <a:spcBef>
          <a:spcPct val="20000"/>
        </a:spcBef>
        <a:buFont typeface="Arial"/>
        <a:buChar char="•"/>
        <a:defRPr sz="15400" kern="1200">
          <a:solidFill>
            <a:schemeClr val="tx1"/>
          </a:solidFill>
          <a:latin typeface="+mn-lt"/>
          <a:ea typeface="+mn-ea"/>
          <a:cs typeface="+mn-cs"/>
        </a:defRPr>
      </a:lvl1pPr>
      <a:lvl2pPr marL="3566160" indent="-1371600" algn="l" defTabSz="2194560" rtl="0" eaLnBrk="1" latinLnBrk="0" hangingPunct="1">
        <a:spcBef>
          <a:spcPct val="20000"/>
        </a:spcBef>
        <a:buFont typeface="Arial"/>
        <a:buChar char="–"/>
        <a:defRPr sz="13400" kern="1200">
          <a:solidFill>
            <a:schemeClr val="tx1"/>
          </a:solidFill>
          <a:latin typeface="+mn-lt"/>
          <a:ea typeface="+mn-ea"/>
          <a:cs typeface="+mn-cs"/>
        </a:defRPr>
      </a:lvl2pPr>
      <a:lvl3pPr marL="5486400" indent="-1097280" algn="l" defTabSz="2194560" rtl="0" eaLnBrk="1" latinLnBrk="0" hangingPunct="1">
        <a:spcBef>
          <a:spcPct val="20000"/>
        </a:spcBef>
        <a:buFont typeface="Arial"/>
        <a:buChar char="•"/>
        <a:defRPr sz="11500" kern="1200">
          <a:solidFill>
            <a:schemeClr val="tx1"/>
          </a:solidFill>
          <a:latin typeface="+mn-lt"/>
          <a:ea typeface="+mn-ea"/>
          <a:cs typeface="+mn-cs"/>
        </a:defRPr>
      </a:lvl3pPr>
      <a:lvl4pPr marL="7680960" indent="-1097280" algn="l" defTabSz="2194560" rtl="0" eaLnBrk="1" latinLnBrk="0" hangingPunct="1">
        <a:spcBef>
          <a:spcPct val="20000"/>
        </a:spcBef>
        <a:buFont typeface="Arial"/>
        <a:buChar char="–"/>
        <a:defRPr sz="9600" kern="1200">
          <a:solidFill>
            <a:schemeClr val="tx1"/>
          </a:solidFill>
          <a:latin typeface="+mn-lt"/>
          <a:ea typeface="+mn-ea"/>
          <a:cs typeface="+mn-cs"/>
        </a:defRPr>
      </a:lvl4pPr>
      <a:lvl5pPr marL="9875520" indent="-1097280" algn="l" defTabSz="2194560" rtl="0" eaLnBrk="1" latinLnBrk="0" hangingPunct="1">
        <a:spcBef>
          <a:spcPct val="20000"/>
        </a:spcBef>
        <a:buFont typeface="Arial"/>
        <a:buChar char="»"/>
        <a:defRPr sz="9600" kern="1200">
          <a:solidFill>
            <a:schemeClr val="tx1"/>
          </a:solidFill>
          <a:latin typeface="+mn-lt"/>
          <a:ea typeface="+mn-ea"/>
          <a:cs typeface="+mn-cs"/>
        </a:defRPr>
      </a:lvl5pPr>
      <a:lvl6pPr marL="12070080" indent="-1097280" algn="l" defTabSz="2194560" rtl="0" eaLnBrk="1" latinLnBrk="0" hangingPunct="1">
        <a:spcBef>
          <a:spcPct val="20000"/>
        </a:spcBef>
        <a:buFont typeface="Arial"/>
        <a:buChar char="•"/>
        <a:defRPr sz="9600" kern="1200">
          <a:solidFill>
            <a:schemeClr val="tx1"/>
          </a:solidFill>
          <a:latin typeface="+mn-lt"/>
          <a:ea typeface="+mn-ea"/>
          <a:cs typeface="+mn-cs"/>
        </a:defRPr>
      </a:lvl6pPr>
      <a:lvl7pPr marL="14264640" indent="-1097280" algn="l" defTabSz="2194560" rtl="0" eaLnBrk="1" latinLnBrk="0" hangingPunct="1">
        <a:spcBef>
          <a:spcPct val="20000"/>
        </a:spcBef>
        <a:buFont typeface="Arial"/>
        <a:buChar char="•"/>
        <a:defRPr sz="9600" kern="1200">
          <a:solidFill>
            <a:schemeClr val="tx1"/>
          </a:solidFill>
          <a:latin typeface="+mn-lt"/>
          <a:ea typeface="+mn-ea"/>
          <a:cs typeface="+mn-cs"/>
        </a:defRPr>
      </a:lvl7pPr>
      <a:lvl8pPr marL="16459200" indent="-1097280" algn="l" defTabSz="2194560" rtl="0" eaLnBrk="1" latinLnBrk="0" hangingPunct="1">
        <a:spcBef>
          <a:spcPct val="20000"/>
        </a:spcBef>
        <a:buFont typeface="Arial"/>
        <a:buChar char="•"/>
        <a:defRPr sz="9600" kern="1200">
          <a:solidFill>
            <a:schemeClr val="tx1"/>
          </a:solidFill>
          <a:latin typeface="+mn-lt"/>
          <a:ea typeface="+mn-ea"/>
          <a:cs typeface="+mn-cs"/>
        </a:defRPr>
      </a:lvl8pPr>
      <a:lvl9pPr marL="18653760" indent="-1097280" algn="l" defTabSz="2194560" rtl="0" eaLnBrk="1" latinLnBrk="0" hangingPunct="1">
        <a:spcBef>
          <a:spcPct val="20000"/>
        </a:spcBef>
        <a:buFont typeface="Arial"/>
        <a:buChar char="•"/>
        <a:defRPr sz="9600" kern="1200">
          <a:solidFill>
            <a:schemeClr val="tx1"/>
          </a:solidFill>
          <a:latin typeface="+mn-lt"/>
          <a:ea typeface="+mn-ea"/>
          <a:cs typeface="+mn-cs"/>
        </a:defRPr>
      </a:lvl9pPr>
    </p:bodyStyle>
    <p:otherStyle>
      <a:defPPr>
        <a:defRPr lang="en-US"/>
      </a:defPPr>
      <a:lvl1pPr marL="0" algn="l" defTabSz="2194560" rtl="0" eaLnBrk="1" latinLnBrk="0" hangingPunct="1">
        <a:defRPr sz="8600" kern="1200">
          <a:solidFill>
            <a:schemeClr val="tx1"/>
          </a:solidFill>
          <a:latin typeface="+mn-lt"/>
          <a:ea typeface="+mn-ea"/>
          <a:cs typeface="+mn-cs"/>
        </a:defRPr>
      </a:lvl1pPr>
      <a:lvl2pPr marL="2194560" algn="l" defTabSz="2194560" rtl="0" eaLnBrk="1" latinLnBrk="0" hangingPunct="1">
        <a:defRPr sz="8600" kern="1200">
          <a:solidFill>
            <a:schemeClr val="tx1"/>
          </a:solidFill>
          <a:latin typeface="+mn-lt"/>
          <a:ea typeface="+mn-ea"/>
          <a:cs typeface="+mn-cs"/>
        </a:defRPr>
      </a:lvl2pPr>
      <a:lvl3pPr marL="4389120" algn="l" defTabSz="2194560" rtl="0" eaLnBrk="1" latinLnBrk="0" hangingPunct="1">
        <a:defRPr sz="8600" kern="1200">
          <a:solidFill>
            <a:schemeClr val="tx1"/>
          </a:solidFill>
          <a:latin typeface="+mn-lt"/>
          <a:ea typeface="+mn-ea"/>
          <a:cs typeface="+mn-cs"/>
        </a:defRPr>
      </a:lvl3pPr>
      <a:lvl4pPr marL="6583680" algn="l" defTabSz="2194560" rtl="0" eaLnBrk="1" latinLnBrk="0" hangingPunct="1">
        <a:defRPr sz="8600" kern="1200">
          <a:solidFill>
            <a:schemeClr val="tx1"/>
          </a:solidFill>
          <a:latin typeface="+mn-lt"/>
          <a:ea typeface="+mn-ea"/>
          <a:cs typeface="+mn-cs"/>
        </a:defRPr>
      </a:lvl4pPr>
      <a:lvl5pPr marL="8778240" algn="l" defTabSz="2194560" rtl="0" eaLnBrk="1" latinLnBrk="0" hangingPunct="1">
        <a:defRPr sz="8600" kern="1200">
          <a:solidFill>
            <a:schemeClr val="tx1"/>
          </a:solidFill>
          <a:latin typeface="+mn-lt"/>
          <a:ea typeface="+mn-ea"/>
          <a:cs typeface="+mn-cs"/>
        </a:defRPr>
      </a:lvl5pPr>
      <a:lvl6pPr marL="10972800" algn="l" defTabSz="2194560" rtl="0" eaLnBrk="1" latinLnBrk="0" hangingPunct="1">
        <a:defRPr sz="8600" kern="1200">
          <a:solidFill>
            <a:schemeClr val="tx1"/>
          </a:solidFill>
          <a:latin typeface="+mn-lt"/>
          <a:ea typeface="+mn-ea"/>
          <a:cs typeface="+mn-cs"/>
        </a:defRPr>
      </a:lvl6pPr>
      <a:lvl7pPr marL="13167360" algn="l" defTabSz="2194560" rtl="0" eaLnBrk="1" latinLnBrk="0" hangingPunct="1">
        <a:defRPr sz="8600" kern="1200">
          <a:solidFill>
            <a:schemeClr val="tx1"/>
          </a:solidFill>
          <a:latin typeface="+mn-lt"/>
          <a:ea typeface="+mn-ea"/>
          <a:cs typeface="+mn-cs"/>
        </a:defRPr>
      </a:lvl7pPr>
      <a:lvl8pPr marL="15361920" algn="l" defTabSz="2194560" rtl="0" eaLnBrk="1" latinLnBrk="0" hangingPunct="1">
        <a:defRPr sz="8600" kern="1200">
          <a:solidFill>
            <a:schemeClr val="tx1"/>
          </a:solidFill>
          <a:latin typeface="+mn-lt"/>
          <a:ea typeface="+mn-ea"/>
          <a:cs typeface="+mn-cs"/>
        </a:defRPr>
      </a:lvl8pPr>
      <a:lvl9pPr marL="17556480" algn="l" defTabSz="219456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9.png"/><Relationship Id="rId18" Type="http://schemas.openxmlformats.org/officeDocument/2006/relationships/image" Target="../media/image14.png"/><Relationship Id="rId26" Type="http://schemas.openxmlformats.org/officeDocument/2006/relationships/image" Target="../media/image22.png"/><Relationship Id="rId3" Type="http://schemas.microsoft.com/office/2018/10/relationships/comments" Target="../comments/modernComment_134_35B27996.xml"/><Relationship Id="rId21" Type="http://schemas.openxmlformats.org/officeDocument/2006/relationships/image" Target="../media/image17.png"/><Relationship Id="rId7" Type="http://schemas.openxmlformats.org/officeDocument/2006/relationships/image" Target="../media/image4.png"/><Relationship Id="rId12" Type="http://schemas.openxmlformats.org/officeDocument/2006/relationships/image" Target="../media/image8.png"/><Relationship Id="rId17" Type="http://schemas.openxmlformats.org/officeDocument/2006/relationships/image" Target="../media/image13.png"/><Relationship Id="rId25" Type="http://schemas.openxmlformats.org/officeDocument/2006/relationships/image" Target="../media/image21.png"/><Relationship Id="rId2" Type="http://schemas.openxmlformats.org/officeDocument/2006/relationships/notesSlide" Target="../notesSlides/notesSlide1.xml"/><Relationship Id="rId16" Type="http://schemas.openxmlformats.org/officeDocument/2006/relationships/image" Target="../media/image12.png"/><Relationship Id="rId20"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hyperlink" Target="https://doi.org/10.1109/AIM.2016.7576984" TargetMode="External"/><Relationship Id="rId24" Type="http://schemas.openxmlformats.org/officeDocument/2006/relationships/image" Target="../media/image20.png"/><Relationship Id="rId5" Type="http://schemas.openxmlformats.org/officeDocument/2006/relationships/image" Target="../media/image2.emf"/><Relationship Id="rId15" Type="http://schemas.openxmlformats.org/officeDocument/2006/relationships/image" Target="../media/image11.png"/><Relationship Id="rId23" Type="http://schemas.openxmlformats.org/officeDocument/2006/relationships/image" Target="../media/image19.png"/><Relationship Id="rId28" Type="http://schemas.openxmlformats.org/officeDocument/2006/relationships/image" Target="../media/image24.png"/><Relationship Id="rId10" Type="http://schemas.openxmlformats.org/officeDocument/2006/relationships/image" Target="../media/image7.png"/><Relationship Id="rId19" Type="http://schemas.openxmlformats.org/officeDocument/2006/relationships/image" Target="../media/image15.png"/><Relationship Id="rId4" Type="http://schemas.openxmlformats.org/officeDocument/2006/relationships/image" Target="../media/image1.PNG"/><Relationship Id="rId9" Type="http://schemas.openxmlformats.org/officeDocument/2006/relationships/image" Target="../media/image6.png"/><Relationship Id="rId14" Type="http://schemas.openxmlformats.org/officeDocument/2006/relationships/image" Target="../media/image10.png"/><Relationship Id="rId22" Type="http://schemas.openxmlformats.org/officeDocument/2006/relationships/image" Target="../media/image18.png"/><Relationship Id="rId27"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B2FEDFB6-B4E0-F93B-CA21-8390B81230C7}"/>
              </a:ext>
            </a:extLst>
          </p:cNvPr>
          <p:cNvSpPr/>
          <p:nvPr/>
        </p:nvSpPr>
        <p:spPr>
          <a:xfrm>
            <a:off x="32645100" y="26222857"/>
            <a:ext cx="10365680" cy="4356918"/>
          </a:xfrm>
          <a:prstGeom prst="rect">
            <a:avLst/>
          </a:prstGeom>
          <a:solidFill>
            <a:schemeClr val="bg1">
              <a:lumMod val="95000"/>
            </a:schemeClr>
          </a:solidFill>
          <a:ln w="28575">
            <a:solidFill>
              <a:schemeClr val="tx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A06EFEF-C0D7-229D-FC15-D0D09A4487F6}"/>
              </a:ext>
            </a:extLst>
          </p:cNvPr>
          <p:cNvSpPr/>
          <p:nvPr/>
        </p:nvSpPr>
        <p:spPr>
          <a:xfrm>
            <a:off x="32655985" y="18689950"/>
            <a:ext cx="10354795" cy="7209083"/>
          </a:xfrm>
          <a:prstGeom prst="rect">
            <a:avLst/>
          </a:prstGeom>
          <a:solidFill>
            <a:schemeClr val="bg1">
              <a:lumMod val="95000"/>
            </a:schemeClr>
          </a:solidFill>
          <a:ln w="28575">
            <a:solidFill>
              <a:schemeClr val="tx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8DE166FB-4B4C-20A8-DE45-86CB31C6939C}"/>
              </a:ext>
            </a:extLst>
          </p:cNvPr>
          <p:cNvSpPr/>
          <p:nvPr/>
        </p:nvSpPr>
        <p:spPr>
          <a:xfrm>
            <a:off x="17737924" y="4592964"/>
            <a:ext cx="25250156" cy="13781952"/>
          </a:xfrm>
          <a:prstGeom prst="rect">
            <a:avLst/>
          </a:prstGeom>
          <a:solidFill>
            <a:schemeClr val="bg1">
              <a:lumMod val="95000"/>
            </a:schemeClr>
          </a:solidFill>
          <a:ln w="28575">
            <a:solidFill>
              <a:schemeClr val="tx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B69E58F6-EAFB-02F4-5C57-B0209B6D2B35}"/>
              </a:ext>
            </a:extLst>
          </p:cNvPr>
          <p:cNvSpPr/>
          <p:nvPr/>
        </p:nvSpPr>
        <p:spPr>
          <a:xfrm>
            <a:off x="35743954" y="13796211"/>
            <a:ext cx="6776116" cy="4251268"/>
          </a:xfrm>
          <a:prstGeom prst="rect">
            <a:avLst/>
          </a:prstGeom>
          <a:solidFill>
            <a:schemeClr val="bg1"/>
          </a:solidFill>
          <a:ln w="285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542F8BE4-15A4-6CE1-2469-15187150564E}"/>
              </a:ext>
            </a:extLst>
          </p:cNvPr>
          <p:cNvSpPr/>
          <p:nvPr/>
        </p:nvSpPr>
        <p:spPr>
          <a:xfrm>
            <a:off x="891506" y="18651606"/>
            <a:ext cx="31336286" cy="11928169"/>
          </a:xfrm>
          <a:prstGeom prst="rect">
            <a:avLst/>
          </a:prstGeom>
          <a:solidFill>
            <a:schemeClr val="bg1">
              <a:lumMod val="95000"/>
            </a:schemeClr>
          </a:solidFill>
          <a:ln w="28575">
            <a:solidFill>
              <a:schemeClr val="tx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0DECE792-3427-D6BE-6FCB-7D0C47F2F999}"/>
              </a:ext>
            </a:extLst>
          </p:cNvPr>
          <p:cNvSpPr/>
          <p:nvPr/>
        </p:nvSpPr>
        <p:spPr>
          <a:xfrm>
            <a:off x="891506" y="4592964"/>
            <a:ext cx="16403009" cy="13781952"/>
          </a:xfrm>
          <a:prstGeom prst="rect">
            <a:avLst/>
          </a:prstGeom>
          <a:solidFill>
            <a:schemeClr val="bg1">
              <a:lumMod val="95000"/>
            </a:schemeClr>
          </a:solidFill>
          <a:ln w="28575">
            <a:solidFill>
              <a:schemeClr val="tx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3" name="Picture 32">
            <a:extLst>
              <a:ext uri="{FF2B5EF4-FFF2-40B4-BE49-F238E27FC236}">
                <a16:creationId xmlns:a16="http://schemas.microsoft.com/office/drawing/2014/main" id="{C8EA30EC-3F17-E8AE-4151-960804F32865}"/>
              </a:ext>
            </a:extLst>
          </p:cNvPr>
          <p:cNvPicPr>
            <a:picLocks noChangeAspect="1"/>
          </p:cNvPicPr>
          <p:nvPr/>
        </p:nvPicPr>
        <p:blipFill>
          <a:blip r:embed="rId4"/>
          <a:stretch>
            <a:fillRect/>
          </a:stretch>
        </p:blipFill>
        <p:spPr>
          <a:xfrm>
            <a:off x="25991417" y="5892480"/>
            <a:ext cx="9353251" cy="4045555"/>
          </a:xfrm>
          <a:prstGeom prst="rect">
            <a:avLst/>
          </a:prstGeom>
        </p:spPr>
      </p:pic>
      <p:sp>
        <p:nvSpPr>
          <p:cNvPr id="36" name="TextBox 35"/>
          <p:cNvSpPr txBox="1"/>
          <p:nvPr/>
        </p:nvSpPr>
        <p:spPr>
          <a:xfrm>
            <a:off x="1022134" y="5700383"/>
            <a:ext cx="6331738" cy="6294031"/>
          </a:xfrm>
          <a:prstGeom prst="rect">
            <a:avLst/>
          </a:prstGeom>
          <a:noFill/>
        </p:spPr>
        <p:txBody>
          <a:bodyPr wrap="square" lIns="91440" tIns="45720" rIns="91440" bIns="45720" rtlCol="0" anchor="t">
            <a:spAutoFit/>
          </a:bodyPr>
          <a:lstStyle/>
          <a:p>
            <a:pPr algn="just"/>
            <a:r>
              <a:rPr lang="en-US" sz="2900" dirty="0">
                <a:solidFill>
                  <a:schemeClr val="accent6"/>
                </a:solidFill>
                <a:latin typeface="Times"/>
                <a:cs typeface="Minion Pro"/>
              </a:rPr>
              <a:t>A </a:t>
            </a:r>
            <a:r>
              <a:rPr lang="en-US" sz="2900" u="sng" dirty="0">
                <a:solidFill>
                  <a:schemeClr val="accent6"/>
                </a:solidFill>
                <a:latin typeface="Times"/>
                <a:cs typeface="Minion Pro"/>
              </a:rPr>
              <a:t>tensegrity</a:t>
            </a:r>
            <a:r>
              <a:rPr lang="en-US" sz="2900" dirty="0">
                <a:solidFill>
                  <a:schemeClr val="accent6"/>
                </a:solidFill>
                <a:latin typeface="Times"/>
                <a:cs typeface="Minion Pro"/>
              </a:rPr>
              <a:t> structure is comprised of rigid struts under compression with prestressed members held in </a:t>
            </a:r>
            <a:r>
              <a:rPr lang="en-US" sz="2900" u="sng" dirty="0">
                <a:solidFill>
                  <a:schemeClr val="accent6"/>
                </a:solidFill>
                <a:latin typeface="Times"/>
                <a:cs typeface="Minion Pro"/>
              </a:rPr>
              <a:t>tens</a:t>
            </a:r>
            <a:r>
              <a:rPr lang="en-US" sz="2900" dirty="0">
                <a:solidFill>
                  <a:schemeClr val="accent6"/>
                </a:solidFill>
                <a:latin typeface="Times"/>
                <a:cs typeface="Minion Pro"/>
              </a:rPr>
              <a:t>ion to achieve structural int</a:t>
            </a:r>
            <a:r>
              <a:rPr lang="en-US" sz="2900" u="sng" dirty="0">
                <a:solidFill>
                  <a:schemeClr val="accent6"/>
                </a:solidFill>
                <a:latin typeface="Times"/>
                <a:cs typeface="Minion Pro"/>
              </a:rPr>
              <a:t>egrity</a:t>
            </a:r>
            <a:r>
              <a:rPr lang="en-US" sz="2900" dirty="0">
                <a:solidFill>
                  <a:schemeClr val="accent6"/>
                </a:solidFill>
                <a:latin typeface="Times"/>
                <a:cs typeface="Minion Pro"/>
              </a:rPr>
              <a:t>. Tensegrity structures are lightweight, packable, impact resistant, and internally stable making them ideal candidates for locomotion in unstructured environments such as search and rescue and space scenarios. Substantial research effort has been    placed     on    designing </a:t>
            </a:r>
            <a:r>
              <a:rPr lang="en-US" sz="2800" dirty="0">
                <a:solidFill>
                  <a:schemeClr val="accent6"/>
                </a:solidFill>
                <a:latin typeface="Times"/>
                <a:cs typeface="Minion Pro"/>
              </a:rPr>
              <a:t>robots   that   utilize   tensegrity structures due to these benefits. These robots generally have two to twelve rods and a comparison of the </a:t>
            </a:r>
            <a:endParaRPr lang="en-US" sz="2800" dirty="0">
              <a:solidFill>
                <a:schemeClr val="bg1">
                  <a:lumMod val="50000"/>
                </a:schemeClr>
              </a:solidFill>
              <a:latin typeface="Times"/>
              <a:cs typeface="Times"/>
            </a:endParaRPr>
          </a:p>
        </p:txBody>
      </p:sp>
      <p:sp>
        <p:nvSpPr>
          <p:cNvPr id="4" name="TextBox 3"/>
          <p:cNvSpPr txBox="1"/>
          <p:nvPr/>
        </p:nvSpPr>
        <p:spPr>
          <a:xfrm>
            <a:off x="6921625" y="-190509"/>
            <a:ext cx="184666" cy="1415772"/>
          </a:xfrm>
          <a:prstGeom prst="rect">
            <a:avLst/>
          </a:prstGeom>
          <a:noFill/>
        </p:spPr>
        <p:txBody>
          <a:bodyPr wrap="none" rtlCol="0">
            <a:spAutoFit/>
          </a:bodyPr>
          <a:lstStyle/>
          <a:p>
            <a:endParaRPr lang="en-US" dirty="0"/>
          </a:p>
        </p:txBody>
      </p:sp>
      <p:sp>
        <p:nvSpPr>
          <p:cNvPr id="57" name="TextBox 56"/>
          <p:cNvSpPr txBox="1"/>
          <p:nvPr/>
        </p:nvSpPr>
        <p:spPr>
          <a:xfrm>
            <a:off x="6682340" y="-27284"/>
            <a:ext cx="29686250" cy="4647426"/>
          </a:xfrm>
          <a:prstGeom prst="rect">
            <a:avLst/>
          </a:prstGeom>
          <a:noFill/>
        </p:spPr>
        <p:txBody>
          <a:bodyPr lIns="91440" tIns="45720" rIns="91440" bIns="45720" anchor="t">
            <a:spAutoFit/>
          </a:bodyPr>
          <a:lstStyle/>
          <a:p>
            <a:pPr algn="ctr" defTabSz="2194560" fontAlgn="auto">
              <a:spcAft>
                <a:spcPts val="0"/>
              </a:spcAft>
              <a:defRPr/>
            </a:pPr>
            <a:r>
              <a:rPr lang="en-US" sz="10000" b="1" dirty="0">
                <a:solidFill>
                  <a:schemeClr val="bg1">
                    <a:lumMod val="50000"/>
                  </a:schemeClr>
                </a:solidFill>
                <a:latin typeface="Times New Roman" panose="02020603050405020304" pitchFamily="18" charset="0"/>
                <a:cs typeface="Times New Roman" panose="02020603050405020304" pitchFamily="18" charset="0"/>
              </a:rPr>
              <a:t>Design and Modeling of Mobile </a:t>
            </a:r>
          </a:p>
          <a:p>
            <a:pPr algn="ctr" defTabSz="2194560" fontAlgn="auto">
              <a:spcAft>
                <a:spcPts val="0"/>
              </a:spcAft>
              <a:defRPr/>
            </a:pPr>
            <a:r>
              <a:rPr lang="en-US" sz="10000" b="1" u="sng" dirty="0">
                <a:solidFill>
                  <a:schemeClr val="bg1">
                    <a:lumMod val="50000"/>
                  </a:schemeClr>
                </a:solidFill>
                <a:latin typeface="Times New Roman" panose="02020603050405020304" pitchFamily="18" charset="0"/>
                <a:cs typeface="Times New Roman" panose="02020603050405020304" pitchFamily="18" charset="0"/>
              </a:rPr>
              <a:t>T</a:t>
            </a:r>
            <a:r>
              <a:rPr lang="en-US" sz="10000" b="1" dirty="0">
                <a:solidFill>
                  <a:schemeClr val="bg1">
                    <a:lumMod val="50000"/>
                  </a:schemeClr>
                </a:solidFill>
                <a:latin typeface="Times New Roman" panose="02020603050405020304" pitchFamily="18" charset="0"/>
                <a:cs typeface="Times New Roman" panose="02020603050405020304" pitchFamily="18" charset="0"/>
              </a:rPr>
              <a:t>ensegrity </a:t>
            </a:r>
            <a:r>
              <a:rPr lang="en-US" sz="10000" b="1" u="sng" dirty="0">
                <a:solidFill>
                  <a:schemeClr val="bg1">
                    <a:lumMod val="50000"/>
                  </a:schemeClr>
                </a:solidFill>
                <a:latin typeface="Times New Roman" panose="02020603050405020304" pitchFamily="18" charset="0"/>
                <a:cs typeface="Times New Roman" panose="02020603050405020304" pitchFamily="18" charset="0"/>
              </a:rPr>
              <a:t>eXplor</a:t>
            </a:r>
            <a:r>
              <a:rPr lang="en-US" sz="10000" b="1" dirty="0">
                <a:solidFill>
                  <a:schemeClr val="bg1">
                    <a:lumMod val="50000"/>
                  </a:schemeClr>
                </a:solidFill>
                <a:latin typeface="Times New Roman" panose="02020603050405020304" pitchFamily="18" charset="0"/>
                <a:cs typeface="Times New Roman" panose="02020603050405020304" pitchFamily="18" charset="0"/>
              </a:rPr>
              <a:t>atory </a:t>
            </a:r>
            <a:r>
              <a:rPr lang="en-US" sz="10000" b="1" u="sng" dirty="0">
                <a:solidFill>
                  <a:schemeClr val="bg1">
                    <a:lumMod val="50000"/>
                  </a:schemeClr>
                </a:solidFill>
                <a:latin typeface="Times New Roman" panose="02020603050405020304" pitchFamily="18" charset="0"/>
                <a:cs typeface="Times New Roman" panose="02020603050405020304" pitchFamily="18" charset="0"/>
              </a:rPr>
              <a:t>R</a:t>
            </a:r>
            <a:r>
              <a:rPr lang="en-US" sz="10000" b="1" dirty="0">
                <a:solidFill>
                  <a:schemeClr val="bg1">
                    <a:lumMod val="50000"/>
                  </a:schemeClr>
                </a:solidFill>
                <a:latin typeface="Times New Roman" panose="02020603050405020304" pitchFamily="18" charset="0"/>
                <a:cs typeface="Times New Roman" panose="02020603050405020304" pitchFamily="18" charset="0"/>
              </a:rPr>
              <a:t>obot (TeXploreR)</a:t>
            </a:r>
          </a:p>
          <a:p>
            <a:pPr algn="ctr" defTabSz="2194560" fontAlgn="auto">
              <a:spcBef>
                <a:spcPts val="0"/>
              </a:spcBef>
              <a:spcAft>
                <a:spcPts val="0"/>
              </a:spcAft>
              <a:defRPr/>
            </a:pPr>
            <a:r>
              <a:rPr lang="en-US" sz="4800" b="1" i="1" dirty="0">
                <a:solidFill>
                  <a:schemeClr val="bg1">
                    <a:lumMod val="50000"/>
                  </a:schemeClr>
                </a:solidFill>
                <a:latin typeface="Times New Roman" panose="02020603050405020304" pitchFamily="18" charset="0"/>
                <a:cs typeface="Times New Roman" panose="02020603050405020304" pitchFamily="18" charset="0"/>
              </a:rPr>
              <a:t>Lauren Ervin, Chase Fortin, and Vishesh Vikas</a:t>
            </a:r>
          </a:p>
          <a:p>
            <a:pPr algn="ctr" defTabSz="2194560" fontAlgn="auto">
              <a:spcBef>
                <a:spcPts val="0"/>
              </a:spcBef>
              <a:spcAft>
                <a:spcPts val="0"/>
              </a:spcAft>
              <a:defRPr/>
            </a:pPr>
            <a:r>
              <a:rPr lang="en-US" sz="4800" b="1" dirty="0">
                <a:solidFill>
                  <a:schemeClr val="bg1">
                    <a:lumMod val="50000"/>
                  </a:schemeClr>
                </a:solidFill>
                <a:latin typeface="Times New Roman" panose="02020603050405020304" pitchFamily="18" charset="0"/>
                <a:cs typeface="Times New Roman" panose="02020603050405020304" pitchFamily="18" charset="0"/>
              </a:rPr>
              <a:t>Agile Robotics Lab, The University of Alabama</a:t>
            </a:r>
            <a:endParaRPr lang="en-US" sz="4800" dirty="0">
              <a:solidFill>
                <a:schemeClr val="bg1">
                  <a:lumMod val="50000"/>
                </a:schemeClr>
              </a:solidFill>
              <a:latin typeface="Times New Roman" panose="02020603050405020304" pitchFamily="18" charset="0"/>
              <a:cs typeface="Times New Roman" panose="02020603050405020304" pitchFamily="18" charset="0"/>
            </a:endParaRPr>
          </a:p>
        </p:txBody>
      </p:sp>
      <p:grpSp>
        <p:nvGrpSpPr>
          <p:cNvPr id="9" name="Group 8">
            <a:extLst>
              <a:ext uri="{FF2B5EF4-FFF2-40B4-BE49-F238E27FC236}">
                <a16:creationId xmlns:a16="http://schemas.microsoft.com/office/drawing/2014/main" id="{1BEE6896-5EB6-4A2B-8CAB-7204A624023C}"/>
              </a:ext>
            </a:extLst>
          </p:cNvPr>
          <p:cNvGrpSpPr/>
          <p:nvPr/>
        </p:nvGrpSpPr>
        <p:grpSpPr>
          <a:xfrm>
            <a:off x="1287117" y="18800484"/>
            <a:ext cx="30625827" cy="1505287"/>
            <a:chOff x="1214776" y="13562556"/>
            <a:chExt cx="10053638" cy="1505287"/>
          </a:xfrm>
        </p:grpSpPr>
        <p:sp>
          <p:nvSpPr>
            <p:cNvPr id="69" name="Rectangle 68"/>
            <p:cNvSpPr/>
            <p:nvPr/>
          </p:nvSpPr>
          <p:spPr>
            <a:xfrm>
              <a:off x="1214776" y="13562556"/>
              <a:ext cx="10053638" cy="914400"/>
            </a:xfrm>
            <a:prstGeom prst="rect">
              <a:avLst/>
            </a:prstGeom>
            <a:solidFill>
              <a:srgbClr val="9C2334"/>
            </a:solidFill>
            <a:ln>
              <a:noFill/>
            </a:ln>
            <a:effectLst>
              <a:outerShdw blurRad="50800" dist="38100" dir="5400000" algn="t" rotWithShape="0">
                <a:prstClr val="black">
                  <a:alpha val="40000"/>
                </a:prstClr>
              </a:outerShdw>
            </a:effectLst>
          </p:spPr>
          <p:style>
            <a:lnRef idx="3">
              <a:schemeClr val="lt1"/>
            </a:lnRef>
            <a:fillRef idx="1">
              <a:schemeClr val="dk1"/>
            </a:fillRef>
            <a:effectRef idx="1">
              <a:schemeClr val="dk1"/>
            </a:effectRef>
            <a:fontRef idx="minor">
              <a:schemeClr val="lt1"/>
            </a:fontRef>
          </p:style>
          <p:txBody>
            <a:bodyPr anchor="ctr"/>
            <a:lstStyle/>
            <a:p>
              <a:pPr algn="ctr" defTabSz="2194560" fontAlgn="auto">
                <a:spcBef>
                  <a:spcPts val="0"/>
                </a:spcBef>
                <a:spcAft>
                  <a:spcPts val="0"/>
                </a:spcAft>
                <a:defRPr/>
              </a:pPr>
              <a:endParaRPr lang="en-US"/>
            </a:p>
          </p:txBody>
        </p:sp>
        <p:sp>
          <p:nvSpPr>
            <p:cNvPr id="70" name="TextBox 69"/>
            <p:cNvSpPr txBox="1"/>
            <p:nvPr/>
          </p:nvSpPr>
          <p:spPr>
            <a:xfrm>
              <a:off x="1714839" y="13621293"/>
              <a:ext cx="9083675" cy="1446550"/>
            </a:xfrm>
            <a:prstGeom prst="rect">
              <a:avLst/>
            </a:prstGeom>
            <a:noFill/>
            <a:ln>
              <a:noFill/>
            </a:ln>
          </p:spPr>
          <p:style>
            <a:lnRef idx="3">
              <a:schemeClr val="lt1"/>
            </a:lnRef>
            <a:fillRef idx="1">
              <a:schemeClr val="dk1"/>
            </a:fillRef>
            <a:effectRef idx="1">
              <a:schemeClr val="dk1"/>
            </a:effectRef>
            <a:fontRef idx="minor">
              <a:schemeClr val="lt1"/>
            </a:fontRef>
          </p:style>
          <p:txBody>
            <a:bodyPr>
              <a:spAutoFit/>
            </a:bodyPr>
            <a:lstStyle/>
            <a:p>
              <a:pPr algn="ctr">
                <a:defRPr/>
              </a:pPr>
              <a:r>
                <a:rPr lang="en-US" sz="4400" dirty="0">
                  <a:solidFill>
                    <a:schemeClr val="bg1"/>
                  </a:solidFill>
                  <a:latin typeface="Verdana"/>
                  <a:cs typeface="Verdana"/>
                </a:rPr>
                <a:t>Design, Mechatronics, and Fabrication</a:t>
              </a:r>
            </a:p>
            <a:p>
              <a:pPr algn="ctr" defTabSz="2194560" fontAlgn="auto">
                <a:spcBef>
                  <a:spcPts val="0"/>
                </a:spcBef>
                <a:spcAft>
                  <a:spcPts val="0"/>
                </a:spcAft>
                <a:defRPr/>
              </a:pPr>
              <a:endParaRPr lang="en-US" sz="4400" dirty="0">
                <a:solidFill>
                  <a:schemeClr val="bg1"/>
                </a:solidFill>
                <a:latin typeface="Verdana"/>
                <a:cs typeface="Verdana"/>
              </a:endParaRPr>
            </a:p>
          </p:txBody>
        </p:sp>
      </p:grpSp>
      <p:grpSp>
        <p:nvGrpSpPr>
          <p:cNvPr id="3" name="Group 2">
            <a:extLst>
              <a:ext uri="{FF2B5EF4-FFF2-40B4-BE49-F238E27FC236}">
                <a16:creationId xmlns:a16="http://schemas.microsoft.com/office/drawing/2014/main" id="{777C9436-FCEF-4C40-BF0A-14EB26E3FB64}"/>
              </a:ext>
            </a:extLst>
          </p:cNvPr>
          <p:cNvGrpSpPr/>
          <p:nvPr/>
        </p:nvGrpSpPr>
        <p:grpSpPr>
          <a:xfrm>
            <a:off x="17994086" y="4816194"/>
            <a:ext cx="24832649" cy="914400"/>
            <a:chOff x="11913973" y="6537868"/>
            <a:chExt cx="20551989" cy="914400"/>
          </a:xfrm>
        </p:grpSpPr>
        <p:sp>
          <p:nvSpPr>
            <p:cNvPr id="71" name="Rectangle 70"/>
            <p:cNvSpPr/>
            <p:nvPr/>
          </p:nvSpPr>
          <p:spPr>
            <a:xfrm>
              <a:off x="11913973" y="6537868"/>
              <a:ext cx="20551989" cy="914400"/>
            </a:xfrm>
            <a:prstGeom prst="rect">
              <a:avLst/>
            </a:prstGeom>
            <a:solidFill>
              <a:srgbClr val="9C2334"/>
            </a:solidFill>
            <a:ln>
              <a:noFill/>
            </a:ln>
            <a:effectLst>
              <a:outerShdw blurRad="50800" dist="38100" dir="5400000" algn="t" rotWithShape="0">
                <a:prstClr val="black">
                  <a:alpha val="40000"/>
                </a:prstClr>
              </a:outerShdw>
            </a:effectLst>
          </p:spPr>
          <p:style>
            <a:lnRef idx="3">
              <a:schemeClr val="lt1"/>
            </a:lnRef>
            <a:fillRef idx="1">
              <a:schemeClr val="dk1"/>
            </a:fillRef>
            <a:effectRef idx="1">
              <a:schemeClr val="dk1"/>
            </a:effectRef>
            <a:fontRef idx="minor">
              <a:schemeClr val="lt1"/>
            </a:fontRef>
          </p:style>
          <p:txBody>
            <a:bodyPr anchor="ctr"/>
            <a:lstStyle/>
            <a:p>
              <a:pPr algn="ctr" defTabSz="2194560" fontAlgn="auto">
                <a:spcBef>
                  <a:spcPts val="0"/>
                </a:spcBef>
                <a:spcAft>
                  <a:spcPts val="0"/>
                </a:spcAft>
                <a:defRPr/>
              </a:pPr>
              <a:endParaRPr lang="en-US"/>
            </a:p>
          </p:txBody>
        </p:sp>
        <p:sp>
          <p:nvSpPr>
            <p:cNvPr id="72" name="TextBox 71"/>
            <p:cNvSpPr txBox="1"/>
            <p:nvPr/>
          </p:nvSpPr>
          <p:spPr>
            <a:xfrm>
              <a:off x="12441790" y="6596606"/>
              <a:ext cx="19965553" cy="769441"/>
            </a:xfrm>
            <a:prstGeom prst="rect">
              <a:avLst/>
            </a:prstGeom>
            <a:noFill/>
            <a:ln>
              <a:noFill/>
            </a:ln>
          </p:spPr>
          <p:style>
            <a:lnRef idx="3">
              <a:schemeClr val="lt1"/>
            </a:lnRef>
            <a:fillRef idx="1">
              <a:schemeClr val="dk1"/>
            </a:fillRef>
            <a:effectRef idx="1">
              <a:schemeClr val="dk1"/>
            </a:effectRef>
            <a:fontRef idx="minor">
              <a:schemeClr val="lt1"/>
            </a:fontRef>
          </p:style>
          <p:txBody>
            <a:bodyPr wrap="square">
              <a:spAutoFit/>
            </a:bodyPr>
            <a:lstStyle/>
            <a:p>
              <a:pPr algn="ctr" defTabSz="2194560" fontAlgn="auto">
                <a:spcBef>
                  <a:spcPts val="0"/>
                </a:spcBef>
                <a:spcAft>
                  <a:spcPts val="0"/>
                </a:spcAft>
                <a:defRPr/>
              </a:pPr>
              <a:r>
                <a:rPr lang="en-US" sz="4400" dirty="0">
                  <a:solidFill>
                    <a:schemeClr val="bg1"/>
                  </a:solidFill>
                  <a:latin typeface="Verdana"/>
                  <a:cs typeface="Verdana"/>
                </a:rPr>
                <a:t>Hybrid System and Static Modeling</a:t>
              </a:r>
            </a:p>
          </p:txBody>
        </p:sp>
      </p:grpSp>
      <p:sp>
        <p:nvSpPr>
          <p:cNvPr id="82" name="Rectangle 81"/>
          <p:cNvSpPr/>
          <p:nvPr/>
        </p:nvSpPr>
        <p:spPr>
          <a:xfrm>
            <a:off x="0" y="30653038"/>
            <a:ext cx="43891200" cy="2265362"/>
          </a:xfrm>
          <a:prstGeom prst="rect">
            <a:avLst/>
          </a:prstGeom>
          <a:solidFill>
            <a:srgbClr val="9C2334"/>
          </a:solidFill>
          <a:ln>
            <a:noFill/>
          </a:ln>
          <a:effectLst>
            <a:outerShdw blurRad="50800" dist="38100" dir="5400000" algn="t" rotWithShape="0">
              <a:prstClr val="black">
                <a:alpha val="40000"/>
              </a:prstClr>
            </a:outerShdw>
          </a:effectLst>
        </p:spPr>
        <p:style>
          <a:lnRef idx="3">
            <a:schemeClr val="lt1"/>
          </a:lnRef>
          <a:fillRef idx="1">
            <a:schemeClr val="dk1"/>
          </a:fillRef>
          <a:effectRef idx="1">
            <a:schemeClr val="dk1"/>
          </a:effectRef>
          <a:fontRef idx="minor">
            <a:schemeClr val="lt1"/>
          </a:fontRef>
        </p:style>
        <p:txBody>
          <a:bodyPr anchor="ctr"/>
          <a:lstStyle/>
          <a:p>
            <a:pPr algn="ctr" defTabSz="2194560" fontAlgn="auto">
              <a:spcBef>
                <a:spcPts val="0"/>
              </a:spcBef>
              <a:spcAft>
                <a:spcPts val="0"/>
              </a:spcAft>
              <a:defRPr/>
            </a:pPr>
            <a:endParaRPr lang="en-US"/>
          </a:p>
        </p:txBody>
      </p:sp>
      <p:pic>
        <p:nvPicPr>
          <p:cNvPr id="85" name="Picture 13" descr="nameplate201_WHITE.eps"/>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4169684" y="31567313"/>
            <a:ext cx="9085603" cy="47253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nvGrpSpPr>
          <p:cNvPr id="12" name="Group 11">
            <a:extLst>
              <a:ext uri="{FF2B5EF4-FFF2-40B4-BE49-F238E27FC236}">
                <a16:creationId xmlns:a16="http://schemas.microsoft.com/office/drawing/2014/main" id="{7B9E8625-DD52-4E94-A781-C26C20A82522}"/>
              </a:ext>
            </a:extLst>
          </p:cNvPr>
          <p:cNvGrpSpPr/>
          <p:nvPr/>
        </p:nvGrpSpPr>
        <p:grpSpPr>
          <a:xfrm>
            <a:off x="32965125" y="26339080"/>
            <a:ext cx="9783587" cy="928687"/>
            <a:chOff x="33148588" y="22194130"/>
            <a:chExt cx="10053637" cy="928687"/>
          </a:xfrm>
        </p:grpSpPr>
        <p:sp>
          <p:nvSpPr>
            <p:cNvPr id="86" name="Rectangle 85"/>
            <p:cNvSpPr/>
            <p:nvPr/>
          </p:nvSpPr>
          <p:spPr>
            <a:xfrm>
              <a:off x="33148588" y="22194130"/>
              <a:ext cx="10053637" cy="928687"/>
            </a:xfrm>
            <a:prstGeom prst="rect">
              <a:avLst/>
            </a:prstGeom>
            <a:solidFill>
              <a:srgbClr val="9C2334"/>
            </a:solidFill>
            <a:ln>
              <a:noFill/>
            </a:ln>
            <a:effectLst>
              <a:outerShdw blurRad="50800" dist="38100" dir="5400000" algn="t" rotWithShape="0">
                <a:prstClr val="black">
                  <a:alpha val="40000"/>
                </a:prstClr>
              </a:outerShdw>
            </a:effectLst>
          </p:spPr>
          <p:style>
            <a:lnRef idx="3">
              <a:schemeClr val="lt1"/>
            </a:lnRef>
            <a:fillRef idx="1">
              <a:schemeClr val="dk1"/>
            </a:fillRef>
            <a:effectRef idx="1">
              <a:schemeClr val="dk1"/>
            </a:effectRef>
            <a:fontRef idx="minor">
              <a:schemeClr val="lt1"/>
            </a:fontRef>
          </p:style>
          <p:txBody>
            <a:bodyPr anchor="ctr"/>
            <a:lstStyle/>
            <a:p>
              <a:pPr algn="ctr" defTabSz="2194560" fontAlgn="auto">
                <a:spcBef>
                  <a:spcPts val="0"/>
                </a:spcBef>
                <a:spcAft>
                  <a:spcPts val="0"/>
                </a:spcAft>
                <a:defRPr/>
              </a:pPr>
              <a:endParaRPr lang="en-US"/>
            </a:p>
          </p:txBody>
        </p:sp>
        <p:sp>
          <p:nvSpPr>
            <p:cNvPr id="87" name="TextBox 86"/>
            <p:cNvSpPr txBox="1"/>
            <p:nvPr/>
          </p:nvSpPr>
          <p:spPr>
            <a:xfrm>
              <a:off x="33689925" y="22230642"/>
              <a:ext cx="9083675" cy="781050"/>
            </a:xfrm>
            <a:prstGeom prst="rect">
              <a:avLst/>
            </a:prstGeom>
            <a:solidFill>
              <a:srgbClr val="9C2334"/>
            </a:solidFill>
            <a:ln>
              <a:noFill/>
            </a:ln>
            <a:effectLst/>
          </p:spPr>
          <p:style>
            <a:lnRef idx="3">
              <a:schemeClr val="lt1"/>
            </a:lnRef>
            <a:fillRef idx="1">
              <a:schemeClr val="dk1"/>
            </a:fillRef>
            <a:effectRef idx="1">
              <a:schemeClr val="dk1"/>
            </a:effectRef>
            <a:fontRef idx="minor">
              <a:schemeClr val="lt1"/>
            </a:fontRef>
          </p:style>
          <p:txBody>
            <a:bodyPr anchor="ct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2194560" fontAlgn="auto">
                <a:spcBef>
                  <a:spcPts val="0"/>
                </a:spcBef>
                <a:spcAft>
                  <a:spcPts val="0"/>
                </a:spcAft>
                <a:defRPr/>
              </a:pPr>
              <a:r>
                <a:rPr lang="en-US" sz="4400" dirty="0">
                  <a:solidFill>
                    <a:schemeClr val="bg1"/>
                  </a:solidFill>
                  <a:latin typeface="Verdana"/>
                  <a:cs typeface="Verdana"/>
                </a:rPr>
                <a:t>References</a:t>
              </a:r>
            </a:p>
          </p:txBody>
        </p:sp>
      </p:grpSp>
      <p:pic>
        <p:nvPicPr>
          <p:cNvPr id="1026" name="Picture 2" descr="ASGC Logo">
            <a:extLst>
              <a:ext uri="{FF2B5EF4-FFF2-40B4-BE49-F238E27FC236}">
                <a16:creationId xmlns:a16="http://schemas.microsoft.com/office/drawing/2014/main" id="{871E815C-2D68-5370-2A77-EB482B2717D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703543" y="114208"/>
            <a:ext cx="4354017" cy="4354017"/>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a:extLst>
              <a:ext uri="{FF2B5EF4-FFF2-40B4-BE49-F238E27FC236}">
                <a16:creationId xmlns:a16="http://schemas.microsoft.com/office/drawing/2014/main" id="{45FF4D9C-1355-342F-4512-FA61B8D7FD9B}"/>
              </a:ext>
            </a:extLst>
          </p:cNvPr>
          <p:cNvPicPr>
            <a:picLocks noChangeAspect="1"/>
          </p:cNvPicPr>
          <p:nvPr/>
        </p:nvPicPr>
        <p:blipFill>
          <a:blip r:embed="rId7"/>
          <a:stretch>
            <a:fillRect/>
          </a:stretch>
        </p:blipFill>
        <p:spPr>
          <a:xfrm>
            <a:off x="2433528" y="589228"/>
            <a:ext cx="6884890" cy="3557834"/>
          </a:xfrm>
          <a:prstGeom prst="rect">
            <a:avLst/>
          </a:prstGeom>
        </p:spPr>
      </p:pic>
      <p:grpSp>
        <p:nvGrpSpPr>
          <p:cNvPr id="25" name="Group 24">
            <a:extLst>
              <a:ext uri="{FF2B5EF4-FFF2-40B4-BE49-F238E27FC236}">
                <a16:creationId xmlns:a16="http://schemas.microsoft.com/office/drawing/2014/main" id="{DD59088A-12CF-E10D-68EF-F16DFC539435}"/>
              </a:ext>
            </a:extLst>
          </p:cNvPr>
          <p:cNvGrpSpPr/>
          <p:nvPr/>
        </p:nvGrpSpPr>
        <p:grpSpPr>
          <a:xfrm>
            <a:off x="1319774" y="4788906"/>
            <a:ext cx="15624775" cy="914400"/>
            <a:chOff x="1214776" y="13562556"/>
            <a:chExt cx="10053638" cy="914400"/>
          </a:xfrm>
        </p:grpSpPr>
        <p:sp>
          <p:nvSpPr>
            <p:cNvPr id="28" name="Rectangle 27">
              <a:extLst>
                <a:ext uri="{FF2B5EF4-FFF2-40B4-BE49-F238E27FC236}">
                  <a16:creationId xmlns:a16="http://schemas.microsoft.com/office/drawing/2014/main" id="{C7EA6CEC-2412-74EB-3965-9B50853C38AA}"/>
                </a:ext>
              </a:extLst>
            </p:cNvPr>
            <p:cNvSpPr/>
            <p:nvPr/>
          </p:nvSpPr>
          <p:spPr>
            <a:xfrm>
              <a:off x="1214776" y="13562556"/>
              <a:ext cx="10053638" cy="914400"/>
            </a:xfrm>
            <a:prstGeom prst="rect">
              <a:avLst/>
            </a:prstGeom>
            <a:solidFill>
              <a:srgbClr val="9C2334"/>
            </a:solidFill>
            <a:ln>
              <a:noFill/>
            </a:ln>
            <a:effectLst>
              <a:outerShdw blurRad="50800" dist="38100" dir="5400000" algn="t" rotWithShape="0">
                <a:prstClr val="black">
                  <a:alpha val="40000"/>
                </a:prstClr>
              </a:outerShdw>
            </a:effectLst>
          </p:spPr>
          <p:style>
            <a:lnRef idx="3">
              <a:schemeClr val="lt1"/>
            </a:lnRef>
            <a:fillRef idx="1">
              <a:schemeClr val="dk1"/>
            </a:fillRef>
            <a:effectRef idx="1">
              <a:schemeClr val="dk1"/>
            </a:effectRef>
            <a:fontRef idx="minor">
              <a:schemeClr val="lt1"/>
            </a:fontRef>
          </p:style>
          <p:txBody>
            <a:bodyPr anchor="ctr"/>
            <a:lstStyle/>
            <a:p>
              <a:pPr algn="ctr" defTabSz="2194560" fontAlgn="auto">
                <a:spcBef>
                  <a:spcPts val="0"/>
                </a:spcBef>
                <a:spcAft>
                  <a:spcPts val="0"/>
                </a:spcAft>
                <a:defRPr/>
              </a:pPr>
              <a:endParaRPr lang="en-US"/>
            </a:p>
          </p:txBody>
        </p:sp>
        <p:sp>
          <p:nvSpPr>
            <p:cNvPr id="30" name="TextBox 29">
              <a:extLst>
                <a:ext uri="{FF2B5EF4-FFF2-40B4-BE49-F238E27FC236}">
                  <a16:creationId xmlns:a16="http://schemas.microsoft.com/office/drawing/2014/main" id="{2C3B13AC-91A3-DD95-7F7A-DC7F5F4D3FF9}"/>
                </a:ext>
              </a:extLst>
            </p:cNvPr>
            <p:cNvSpPr txBox="1"/>
            <p:nvPr/>
          </p:nvSpPr>
          <p:spPr>
            <a:xfrm>
              <a:off x="1238609" y="13614724"/>
              <a:ext cx="10011332" cy="769441"/>
            </a:xfrm>
            <a:prstGeom prst="rect">
              <a:avLst/>
            </a:prstGeom>
            <a:noFill/>
            <a:ln>
              <a:noFill/>
            </a:ln>
          </p:spPr>
          <p:style>
            <a:lnRef idx="3">
              <a:schemeClr val="lt1"/>
            </a:lnRef>
            <a:fillRef idx="1">
              <a:schemeClr val="dk1"/>
            </a:fillRef>
            <a:effectRef idx="1">
              <a:schemeClr val="dk1"/>
            </a:effectRef>
            <a:fontRef idx="minor">
              <a:schemeClr val="lt1"/>
            </a:fontRef>
          </p:style>
          <p:txBody>
            <a:bodyPr wrap="square">
              <a:spAutoFit/>
            </a:bodyPr>
            <a:lstStyle/>
            <a:p>
              <a:pPr algn="ctr" defTabSz="2194560" fontAlgn="auto">
                <a:spcBef>
                  <a:spcPts val="0"/>
                </a:spcBef>
                <a:spcAft>
                  <a:spcPts val="0"/>
                </a:spcAft>
                <a:defRPr/>
              </a:pPr>
              <a:r>
                <a:rPr lang="en-US" sz="4400" dirty="0">
                  <a:solidFill>
                    <a:schemeClr val="bg1"/>
                  </a:solidFill>
                  <a:latin typeface="Verdana"/>
                  <a:cs typeface="Verdana"/>
                </a:rPr>
                <a:t>Introduction and Motivation</a:t>
              </a:r>
            </a:p>
          </p:txBody>
        </p:sp>
      </p:grpSp>
      <mc:AlternateContent xmlns:mc="http://schemas.openxmlformats.org/markup-compatibility/2006">
        <mc:Choice xmlns:a14="http://schemas.microsoft.com/office/drawing/2010/main" Requires="a14">
          <p:sp>
            <p:nvSpPr>
              <p:cNvPr id="31" name="TextBox 30">
                <a:extLst>
                  <a:ext uri="{FF2B5EF4-FFF2-40B4-BE49-F238E27FC236}">
                    <a16:creationId xmlns:a16="http://schemas.microsoft.com/office/drawing/2014/main" id="{A1924E18-C67A-0D98-D4EA-3D3780D1CD2B}"/>
                  </a:ext>
                </a:extLst>
              </p:cNvPr>
              <p:cNvSpPr txBox="1"/>
              <p:nvPr/>
            </p:nvSpPr>
            <p:spPr>
              <a:xfrm>
                <a:off x="18069817" y="5739096"/>
                <a:ext cx="7667553" cy="13106024"/>
              </a:xfrm>
              <a:prstGeom prst="rect">
                <a:avLst/>
              </a:prstGeom>
              <a:noFill/>
            </p:spPr>
            <p:txBody>
              <a:bodyPr wrap="square" lIns="91440" tIns="45720" rIns="91440" bIns="45720" rtlCol="0" anchor="t">
                <a:spAutoFit/>
              </a:bodyPr>
              <a:lstStyle/>
              <a:p>
                <a:pPr algn="just"/>
                <a:r>
                  <a:rPr lang="en-US" sz="2900" dirty="0">
                    <a:solidFill>
                      <a:schemeClr val="accent6"/>
                    </a:solidFill>
                    <a:latin typeface="Times"/>
                    <a:cs typeface="Minion Pro"/>
                  </a:rPr>
                  <a:t>The unique design of the hybrid system TeXploreR poses static and dynamic modeling challenges; this is due to:</a:t>
                </a:r>
              </a:p>
              <a:p>
                <a:pPr marL="514350" indent="-514350" algn="just">
                  <a:buFont typeface="+mj-lt"/>
                  <a:buAutoNum type="arabicPeriod"/>
                </a:pPr>
                <a:r>
                  <a:rPr lang="en-US" sz="2900" dirty="0">
                    <a:solidFill>
                      <a:schemeClr val="accent6"/>
                    </a:solidFill>
                    <a:latin typeface="Times"/>
                    <a:cs typeface="Minion Pro"/>
                  </a:rPr>
                  <a:t>The discontinuous nature of the semi-circular, curved links requiring switching between states</a:t>
                </a:r>
              </a:p>
              <a:p>
                <a:pPr marL="514350" indent="-514350" algn="just">
                  <a:buFont typeface="+mj-lt"/>
                  <a:buAutoNum type="arabicPeriod"/>
                </a:pPr>
                <a:r>
                  <a:rPr lang="en-US" sz="2900" dirty="0">
                    <a:solidFill>
                      <a:schemeClr val="accent6"/>
                    </a:solidFill>
                    <a:latin typeface="Times"/>
                    <a:cs typeface="Minion Pro"/>
                  </a:rPr>
                  <a:t>Two changing points of contact with the surface</a:t>
                </a:r>
              </a:p>
              <a:p>
                <a:pPr marL="514350" indent="-514350" algn="just">
                  <a:buFont typeface="+mj-lt"/>
                  <a:buAutoNum type="arabicPeriod"/>
                </a:pPr>
                <a:r>
                  <a:rPr lang="en-US" sz="2900" dirty="0">
                    <a:solidFill>
                      <a:schemeClr val="accent6"/>
                    </a:solidFill>
                    <a:latin typeface="Times"/>
                    <a:cs typeface="Minion Pro"/>
                  </a:rPr>
                  <a:t>Instantaneous movement of the masses along the links</a:t>
                </a:r>
              </a:p>
              <a:p>
                <a:pPr algn="just"/>
                <a:endParaRPr lang="en-US" sz="2900" dirty="0">
                  <a:solidFill>
                    <a:schemeClr val="accent6"/>
                  </a:solidFill>
                  <a:latin typeface="Times"/>
                  <a:cs typeface="Minion Pro"/>
                </a:endParaRPr>
              </a:p>
              <a:p>
                <a:pPr algn="just"/>
                <a:r>
                  <a:rPr lang="en-US" sz="2900" dirty="0">
                    <a:solidFill>
                      <a:schemeClr val="accent6"/>
                    </a:solidFill>
                    <a:latin typeface="Times"/>
                    <a:cs typeface="Minion Pro"/>
                  </a:rPr>
                  <a:t>Tensegrity robots generally move by one of two methods. The first is the shortening of cable lengths, effectively altering the robot’s configuration space. The second method is shifting one or more internal masses, instantaneously changing the robot’s overall center of mass. TeXploreR takes advantage of the second method for locomotion. A geometrical representation of the two TeXploreR arcs is shown in Fig. 5. There is an internal mass, </a:t>
                </a:r>
                <a14:m>
                  <m:oMath xmlns:m="http://schemas.openxmlformats.org/officeDocument/2006/math">
                    <m:sSub>
                      <m:sSubPr>
                        <m:ctrlPr>
                          <a:rPr lang="en-US" sz="2900" i="1">
                            <a:solidFill>
                              <a:schemeClr val="accent6"/>
                            </a:solidFill>
                            <a:latin typeface="Cambria Math" panose="02040503050406030204" pitchFamily="18" charset="0"/>
                          </a:rPr>
                        </m:ctrlPr>
                      </m:sSubPr>
                      <m:e>
                        <m:r>
                          <a:rPr lang="en-US" sz="2900" i="1">
                            <a:solidFill>
                              <a:schemeClr val="accent6"/>
                            </a:solidFill>
                            <a:latin typeface="Cambria Math" panose="02040503050406030204" pitchFamily="18" charset="0"/>
                          </a:rPr>
                          <m:t>𝑀</m:t>
                        </m:r>
                      </m:e>
                      <m:sub>
                        <m:r>
                          <a:rPr lang="en-US" sz="2900" i="1">
                            <a:solidFill>
                              <a:schemeClr val="accent6"/>
                            </a:solidFill>
                            <a:latin typeface="Cambria Math" panose="02040503050406030204" pitchFamily="18" charset="0"/>
                          </a:rPr>
                          <m:t>𝑖</m:t>
                        </m:r>
                      </m:sub>
                    </m:sSub>
                    <m:r>
                      <a:rPr lang="en-US" sz="2900" i="1">
                        <a:solidFill>
                          <a:schemeClr val="accent6"/>
                        </a:solidFill>
                        <a:latin typeface="Cambria Math" panose="02040503050406030204" pitchFamily="18" charset="0"/>
                      </a:rPr>
                      <m:t>,</m:t>
                    </m:r>
                  </m:oMath>
                </a14:m>
                <a:r>
                  <a:rPr lang="en-US" sz="2900" dirty="0">
                    <a:solidFill>
                      <a:schemeClr val="accent6"/>
                    </a:solidFill>
                    <a:latin typeface="Times"/>
                    <a:cs typeface="Minion Pro"/>
                  </a:rPr>
                  <a:t> with position, </a:t>
                </a:r>
                <a14:m>
                  <m:oMath xmlns:m="http://schemas.openxmlformats.org/officeDocument/2006/math">
                    <m:sSubSup>
                      <m:sSubSupPr>
                        <m:ctrlPr>
                          <a:rPr lang="en-US" sz="2900" i="1">
                            <a:solidFill>
                              <a:schemeClr val="accent6"/>
                            </a:solidFill>
                            <a:latin typeface="Cambria Math" panose="02040503050406030204" pitchFamily="18" charset="0"/>
                          </a:rPr>
                        </m:ctrlPr>
                      </m:sSubSupPr>
                      <m:e>
                        <m:r>
                          <a:rPr lang="en-US" sz="2900" b="1" i="1">
                            <a:solidFill>
                              <a:schemeClr val="accent6"/>
                            </a:solidFill>
                            <a:latin typeface="Cambria Math" panose="02040503050406030204" pitchFamily="18" charset="0"/>
                          </a:rPr>
                          <m:t>𝒑</m:t>
                        </m:r>
                      </m:e>
                      <m:sub>
                        <m:r>
                          <a:rPr lang="en-US" sz="2900" i="1">
                            <a:solidFill>
                              <a:schemeClr val="accent6"/>
                            </a:solidFill>
                            <a:latin typeface="Cambria Math" panose="02040503050406030204" pitchFamily="18" charset="0"/>
                          </a:rPr>
                          <m:t>𝑖</m:t>
                        </m:r>
                      </m:sub>
                      <m:sup>
                        <m:r>
                          <a:rPr lang="en-US" sz="2900" i="1">
                            <a:solidFill>
                              <a:schemeClr val="accent6"/>
                            </a:solidFill>
                            <a:latin typeface="Cambria Math" panose="02040503050406030204" pitchFamily="18" charset="0"/>
                          </a:rPr>
                          <m:t>𝑏</m:t>
                        </m:r>
                      </m:sup>
                    </m:sSubSup>
                    <m:r>
                      <a:rPr lang="en-US" sz="2900" i="1">
                        <a:solidFill>
                          <a:schemeClr val="accent6"/>
                        </a:solidFill>
                        <a:latin typeface="Cambria Math" panose="02040503050406030204" pitchFamily="18" charset="0"/>
                      </a:rPr>
                      <m:t> </m:t>
                    </m:r>
                  </m:oMath>
                </a14:m>
                <a:r>
                  <a:rPr lang="en-US" sz="2900" dirty="0">
                    <a:solidFill>
                      <a:schemeClr val="accent6"/>
                    </a:solidFill>
                    <a:latin typeface="Times"/>
                    <a:cs typeface="Minion Pro"/>
                  </a:rPr>
                  <a:t>in the </a:t>
                </a:r>
                <a14:m>
                  <m:oMath xmlns:m="http://schemas.openxmlformats.org/officeDocument/2006/math">
                    <m:r>
                      <a:rPr lang="en-US" sz="2900" b="0" i="1" smtClean="0">
                        <a:solidFill>
                          <a:schemeClr val="accent6"/>
                        </a:solidFill>
                        <a:latin typeface="Cambria Math" panose="02040503050406030204" pitchFamily="18" charset="0"/>
                        <a:cs typeface="Minion Pro"/>
                      </a:rPr>
                      <m:t>{</m:t>
                    </m:r>
                    <m:sSub>
                      <m:sSubPr>
                        <m:ctrlPr>
                          <a:rPr lang="en-US" sz="2900" b="0" i="1" smtClean="0">
                            <a:solidFill>
                              <a:schemeClr val="accent6"/>
                            </a:solidFill>
                            <a:latin typeface="Cambria Math" panose="02040503050406030204" pitchFamily="18" charset="0"/>
                            <a:cs typeface="Minion Pro"/>
                          </a:rPr>
                        </m:ctrlPr>
                      </m:sSubPr>
                      <m:e>
                        <m:r>
                          <a:rPr lang="en-US" sz="2900" b="1" i="1" smtClean="0">
                            <a:solidFill>
                              <a:schemeClr val="accent6"/>
                            </a:solidFill>
                            <a:latin typeface="Cambria Math" panose="02040503050406030204" pitchFamily="18" charset="0"/>
                            <a:cs typeface="Minion Pro"/>
                          </a:rPr>
                          <m:t>𝒃</m:t>
                        </m:r>
                      </m:e>
                      <m:sub>
                        <m:r>
                          <a:rPr lang="en-US" sz="2900" b="0" i="1" smtClean="0">
                            <a:solidFill>
                              <a:schemeClr val="accent6"/>
                            </a:solidFill>
                            <a:latin typeface="Cambria Math" panose="02040503050406030204" pitchFamily="18" charset="0"/>
                            <a:cs typeface="Minion Pro"/>
                          </a:rPr>
                          <m:t>𝑖</m:t>
                        </m:r>
                      </m:sub>
                    </m:sSub>
                    <m:r>
                      <a:rPr lang="en-US" sz="2900" b="0" i="1" smtClean="0">
                        <a:solidFill>
                          <a:schemeClr val="accent6"/>
                        </a:solidFill>
                        <a:latin typeface="Cambria Math" panose="02040503050406030204" pitchFamily="18" charset="0"/>
                        <a:cs typeface="Minion Pro"/>
                      </a:rPr>
                      <m:t>}</m:t>
                    </m:r>
                  </m:oMath>
                </a14:m>
                <a:r>
                  <a:rPr lang="en-US" sz="2900" dirty="0">
                    <a:solidFill>
                      <a:schemeClr val="accent6"/>
                    </a:solidFill>
                    <a:latin typeface="Times"/>
                    <a:cs typeface="Minion Pro"/>
                  </a:rPr>
                  <a:t> coordinate frame attached to each arc and controlled by a stepper motor. The angle of rotation from the center arc base is represented by </a:t>
                </a:r>
                <a14:m>
                  <m:oMath xmlns:m="http://schemas.openxmlformats.org/officeDocument/2006/math">
                    <m:sSub>
                      <m:sSubPr>
                        <m:ctrlPr>
                          <a:rPr lang="en-US" sz="2900" i="1">
                            <a:solidFill>
                              <a:schemeClr val="accent6"/>
                            </a:solidFill>
                            <a:latin typeface="Cambria Math" panose="02040503050406030204" pitchFamily="18" charset="0"/>
                          </a:rPr>
                        </m:ctrlPr>
                      </m:sSubPr>
                      <m:e>
                        <m:r>
                          <a:rPr lang="en-US" sz="2900" i="1">
                            <a:solidFill>
                              <a:schemeClr val="accent6"/>
                            </a:solidFill>
                            <a:latin typeface="Cambria Math" panose="02040503050406030204" pitchFamily="18" charset="0"/>
                            <a:ea typeface="Cambria Math" panose="02040503050406030204" pitchFamily="18" charset="0"/>
                          </a:rPr>
                          <m:t>𝜃</m:t>
                        </m:r>
                      </m:e>
                      <m:sub>
                        <m:r>
                          <a:rPr lang="en-US" sz="2900" i="1">
                            <a:solidFill>
                              <a:schemeClr val="accent6"/>
                            </a:solidFill>
                            <a:latin typeface="Cambria Math" panose="02040503050406030204" pitchFamily="18" charset="0"/>
                          </a:rPr>
                          <m:t>𝑖</m:t>
                        </m:r>
                      </m:sub>
                    </m:sSub>
                    <m:r>
                      <a:rPr lang="en-US" sz="2900" i="1">
                        <a:solidFill>
                          <a:schemeClr val="accent6"/>
                        </a:solidFill>
                        <a:latin typeface="Cambria Math" panose="02040503050406030204" pitchFamily="18" charset="0"/>
                      </a:rPr>
                      <m:t>.</m:t>
                    </m:r>
                  </m:oMath>
                </a14:m>
                <a:r>
                  <a:rPr lang="en-US" sz="2900" dirty="0">
                    <a:solidFill>
                      <a:schemeClr val="accent6"/>
                    </a:solidFill>
                    <a:latin typeface="Times"/>
                    <a:cs typeface="Minion Pro"/>
                  </a:rPr>
                  <a:t> Similarly, a point of contact </a:t>
                </a:r>
                <a14:m>
                  <m:oMath xmlns:m="http://schemas.openxmlformats.org/officeDocument/2006/math">
                    <m:sSubSup>
                      <m:sSubSupPr>
                        <m:ctrlPr>
                          <a:rPr lang="en-US" sz="2900" i="1">
                            <a:solidFill>
                              <a:schemeClr val="accent6"/>
                            </a:solidFill>
                            <a:latin typeface="Cambria Math" panose="02040503050406030204" pitchFamily="18" charset="0"/>
                            <a:cs typeface="Minion Pro"/>
                          </a:rPr>
                        </m:ctrlPr>
                      </m:sSubSupPr>
                      <m:e>
                        <m:r>
                          <a:rPr lang="en-US" sz="2900" b="1" i="1">
                            <a:solidFill>
                              <a:schemeClr val="accent6"/>
                            </a:solidFill>
                            <a:latin typeface="Cambria Math" panose="02040503050406030204" pitchFamily="18" charset="0"/>
                            <a:cs typeface="Minion Pro"/>
                          </a:rPr>
                          <m:t>𝒒</m:t>
                        </m:r>
                      </m:e>
                      <m:sub>
                        <m:r>
                          <a:rPr lang="en-US" sz="2900" i="1">
                            <a:solidFill>
                              <a:schemeClr val="accent6"/>
                            </a:solidFill>
                            <a:latin typeface="Cambria Math" panose="02040503050406030204" pitchFamily="18" charset="0"/>
                            <a:cs typeface="Minion Pro"/>
                          </a:rPr>
                          <m:t>𝑖</m:t>
                        </m:r>
                      </m:sub>
                      <m:sup>
                        <m:r>
                          <a:rPr lang="en-US" sz="2900" i="1">
                            <a:solidFill>
                              <a:schemeClr val="accent6"/>
                            </a:solidFill>
                            <a:latin typeface="Cambria Math" panose="02040503050406030204" pitchFamily="18" charset="0"/>
                            <a:cs typeface="Minion Pro"/>
                          </a:rPr>
                          <m:t>𝑏</m:t>
                        </m:r>
                      </m:sup>
                    </m:sSubSup>
                  </m:oMath>
                </a14:m>
                <a:r>
                  <a:rPr lang="en-US" sz="2900" dirty="0">
                    <a:solidFill>
                      <a:schemeClr val="accent6"/>
                    </a:solidFill>
                    <a:latin typeface="Times"/>
                    <a:cs typeface="Minion Pro"/>
                  </a:rPr>
                  <a:t> exists for each arc with angle of rotation </a:t>
                </a:r>
                <a14:m>
                  <m:oMath xmlns:m="http://schemas.openxmlformats.org/officeDocument/2006/math">
                    <m:sSub>
                      <m:sSubPr>
                        <m:ctrlPr>
                          <a:rPr lang="en-US" sz="2900" i="1">
                            <a:solidFill>
                              <a:schemeClr val="accent6"/>
                            </a:solidFill>
                            <a:latin typeface="Cambria Math" panose="02040503050406030204" pitchFamily="18" charset="0"/>
                            <a:cs typeface="Minion Pro"/>
                          </a:rPr>
                        </m:ctrlPr>
                      </m:sSubPr>
                      <m:e>
                        <m:r>
                          <a:rPr lang="en-US" sz="2900" i="1">
                            <a:solidFill>
                              <a:schemeClr val="accent6"/>
                            </a:solidFill>
                            <a:latin typeface="Cambria Math" panose="02040503050406030204" pitchFamily="18" charset="0"/>
                            <a:cs typeface="Minion Pro"/>
                          </a:rPr>
                          <m:t>𝜙</m:t>
                        </m:r>
                      </m:e>
                      <m:sub>
                        <m:r>
                          <a:rPr lang="en-US" sz="2900" i="1">
                            <a:solidFill>
                              <a:schemeClr val="accent6"/>
                            </a:solidFill>
                            <a:latin typeface="Cambria Math" panose="02040503050406030204" pitchFamily="18" charset="0"/>
                            <a:cs typeface="Minion Pro"/>
                          </a:rPr>
                          <m:t>𝑖</m:t>
                        </m:r>
                      </m:sub>
                    </m:sSub>
                  </m:oMath>
                </a14:m>
                <a:r>
                  <a:rPr lang="en-US" sz="2900" dirty="0">
                    <a:solidFill>
                      <a:schemeClr val="accent6"/>
                    </a:solidFill>
                    <a:latin typeface="Times"/>
                    <a:cs typeface="Minion Pro"/>
                  </a:rPr>
                  <a:t>. As a motor assembly runs along an arc, the internal mass, and therefore the entire robot, shifts. </a:t>
                </a:r>
                <a:endParaRPr lang="en-US" sz="2900" dirty="0">
                  <a:solidFill>
                    <a:schemeClr val="accent6"/>
                  </a:solidFill>
                  <a:latin typeface="Times"/>
                  <a:cs typeface="Times"/>
                </a:endParaRPr>
              </a:p>
            </p:txBody>
          </p:sp>
        </mc:Choice>
        <mc:Fallback>
          <p:sp>
            <p:nvSpPr>
              <p:cNvPr id="31" name="TextBox 30">
                <a:extLst>
                  <a:ext uri="{FF2B5EF4-FFF2-40B4-BE49-F238E27FC236}">
                    <a16:creationId xmlns:a16="http://schemas.microsoft.com/office/drawing/2014/main" id="{A1924E18-C67A-0D98-D4EA-3D3780D1CD2B}"/>
                  </a:ext>
                </a:extLst>
              </p:cNvPr>
              <p:cNvSpPr txBox="1">
                <a:spLocks noRot="1" noChangeAspect="1" noMove="1" noResize="1" noEditPoints="1" noAdjustHandles="1" noChangeArrowheads="1" noChangeShapeType="1" noTextEdit="1"/>
              </p:cNvSpPr>
              <p:nvPr/>
            </p:nvSpPr>
            <p:spPr>
              <a:xfrm>
                <a:off x="18069817" y="5739096"/>
                <a:ext cx="7667553" cy="13106024"/>
              </a:xfrm>
              <a:prstGeom prst="rect">
                <a:avLst/>
              </a:prstGeom>
              <a:blipFill>
                <a:blip r:embed="rId8"/>
                <a:stretch>
                  <a:fillRect l="-1669" t="-512" r="-1749"/>
                </a:stretch>
              </a:blipFill>
            </p:spPr>
            <p:txBody>
              <a:bodyPr/>
              <a:lstStyle/>
              <a:p>
                <a:r>
                  <a:rPr lang="en-US">
                    <a:noFill/>
                  </a:rPr>
                  <a:t> </a:t>
                </a:r>
              </a:p>
            </p:txBody>
          </p:sp>
        </mc:Fallback>
      </mc:AlternateContent>
      <p:sp>
        <p:nvSpPr>
          <p:cNvPr id="32" name="TextBox 31">
            <a:extLst>
              <a:ext uri="{FF2B5EF4-FFF2-40B4-BE49-F238E27FC236}">
                <a16:creationId xmlns:a16="http://schemas.microsoft.com/office/drawing/2014/main" id="{D0DFEE7C-5298-AFED-9698-87353EED8DF1}"/>
              </a:ext>
            </a:extLst>
          </p:cNvPr>
          <p:cNvSpPr txBox="1"/>
          <p:nvPr/>
        </p:nvSpPr>
        <p:spPr>
          <a:xfrm>
            <a:off x="13360909" y="19849976"/>
            <a:ext cx="9796257" cy="10710624"/>
          </a:xfrm>
          <a:prstGeom prst="rect">
            <a:avLst/>
          </a:prstGeom>
          <a:noFill/>
        </p:spPr>
        <p:txBody>
          <a:bodyPr wrap="square" lIns="91440" tIns="45720" rIns="91440" bIns="45720" rtlCol="0" anchor="t">
            <a:spAutoFit/>
          </a:bodyPr>
          <a:lstStyle/>
          <a:p>
            <a:pPr marL="514350" indent="-514350">
              <a:buFont typeface="+mj-lt"/>
              <a:buAutoNum type="arabicPeriod"/>
            </a:pPr>
            <a:r>
              <a:rPr lang="en-US" sz="2900" b="1" u="sng" dirty="0">
                <a:latin typeface="Times"/>
                <a:cs typeface="Times"/>
              </a:rPr>
              <a:t>Mechanical Design:</a:t>
            </a:r>
            <a:r>
              <a:rPr lang="en-US" sz="2900" b="1" dirty="0">
                <a:latin typeface="Times"/>
                <a:cs typeface="Times"/>
              </a:rPr>
              <a:t> </a:t>
            </a:r>
            <a:r>
              <a:rPr lang="en-US" sz="2900" dirty="0">
                <a:solidFill>
                  <a:schemeClr val="accent6"/>
                </a:solidFill>
                <a:latin typeface="Times"/>
                <a:cs typeface="Times"/>
              </a:rPr>
              <a:t>Curved arcs and endcaps for payload storage were 3D printed with tough PLA filament shown in Fig. 4a. A GT2 timing belt was adhered to the inside of each arc.</a:t>
            </a:r>
          </a:p>
          <a:p>
            <a:pPr marL="514350" indent="-514350">
              <a:buFont typeface="+mj-lt"/>
              <a:buAutoNum type="arabicPeriod"/>
            </a:pPr>
            <a:endParaRPr lang="en-US" sz="1400" dirty="0">
              <a:solidFill>
                <a:schemeClr val="accent6"/>
              </a:solidFill>
              <a:latin typeface="Times"/>
              <a:cs typeface="Times"/>
            </a:endParaRPr>
          </a:p>
          <a:p>
            <a:pPr marL="514350" indent="-514350">
              <a:buFont typeface="+mj-lt"/>
              <a:buAutoNum type="arabicPeriod"/>
            </a:pPr>
            <a:r>
              <a:rPr lang="en-US" sz="2800" b="1" u="sng" dirty="0">
                <a:latin typeface="Times"/>
                <a:cs typeface="Times"/>
              </a:rPr>
              <a:t>Electrical Design:</a:t>
            </a:r>
            <a:r>
              <a:rPr lang="en-US" sz="2800" b="1" dirty="0">
                <a:latin typeface="Times"/>
                <a:cs typeface="Times"/>
              </a:rPr>
              <a:t> </a:t>
            </a:r>
            <a:r>
              <a:rPr lang="en-US" sz="2800" dirty="0">
                <a:solidFill>
                  <a:schemeClr val="accent6"/>
                </a:solidFill>
                <a:latin typeface="Times"/>
                <a:cs typeface="Times"/>
              </a:rPr>
              <a:t>All electrical components including NEMA17 stepper motor, Arduino Nano33 IoT, A4988 motor driver, 1,100mAh LiPo battery, and PCB were attached to 3D printed storage cups shown in Fig. 4b. This was then mounted to the top of a stepper motor. The wires were routed to minimize potential snags. The PCB and LiPo battery were secured to the 3D printed mount to ensure minimal shifting of components during movement sequences.</a:t>
            </a:r>
          </a:p>
          <a:p>
            <a:pPr marL="514350" indent="-514350">
              <a:buFont typeface="+mj-lt"/>
              <a:buAutoNum type="arabicPeriod"/>
            </a:pPr>
            <a:endParaRPr lang="en-US" sz="1400" dirty="0">
              <a:solidFill>
                <a:schemeClr val="accent6"/>
              </a:solidFill>
              <a:latin typeface="Times"/>
              <a:cs typeface="Times"/>
            </a:endParaRPr>
          </a:p>
          <a:p>
            <a:pPr marL="514350" indent="-514350">
              <a:buFont typeface="+mj-lt"/>
              <a:buAutoNum type="arabicPeriod"/>
            </a:pPr>
            <a:r>
              <a:rPr lang="en-US" sz="2800" b="1" u="sng" dirty="0">
                <a:latin typeface="Times"/>
                <a:cs typeface="Times"/>
              </a:rPr>
              <a:t>Mechanical Assembly:</a:t>
            </a:r>
            <a:r>
              <a:rPr lang="en-US" sz="2800" b="1" dirty="0">
                <a:latin typeface="Times"/>
                <a:cs typeface="Times"/>
              </a:rPr>
              <a:t> </a:t>
            </a:r>
            <a:r>
              <a:rPr lang="en-US" sz="2800" dirty="0">
                <a:solidFill>
                  <a:schemeClr val="accent6"/>
                </a:solidFill>
                <a:latin typeface="Times"/>
                <a:cs typeface="Times"/>
              </a:rPr>
              <a:t>The 80/20 assembly jig is shown in Fig. 4c. One arc was attached to the ground vice and the other arc was attached to the clamp suspended in air. The distance between the two arcs was modified as necessary to provide the correct spacing. </a:t>
            </a:r>
          </a:p>
          <a:p>
            <a:pPr marL="514350" indent="-514350">
              <a:buFont typeface="+mj-lt"/>
              <a:buAutoNum type="arabicPeriod"/>
            </a:pPr>
            <a:endParaRPr lang="en-US" sz="1400" dirty="0">
              <a:solidFill>
                <a:schemeClr val="accent6"/>
              </a:solidFill>
              <a:latin typeface="Times"/>
              <a:cs typeface="Times"/>
            </a:endParaRPr>
          </a:p>
          <a:p>
            <a:pPr marL="514350" indent="-514350">
              <a:buFont typeface="+mj-lt"/>
              <a:buAutoNum type="arabicPeriod"/>
            </a:pPr>
            <a:r>
              <a:rPr lang="en-US" sz="2800" b="1" u="sng" dirty="0">
                <a:latin typeface="Times"/>
                <a:cs typeface="Times"/>
              </a:rPr>
              <a:t>Cable Routing with Graph Theory:</a:t>
            </a:r>
            <a:r>
              <a:rPr lang="en-US" sz="2800" b="1" dirty="0">
                <a:latin typeface="Times"/>
                <a:cs typeface="Times"/>
              </a:rPr>
              <a:t> </a:t>
            </a:r>
            <a:r>
              <a:rPr lang="en-US" sz="2800" dirty="0">
                <a:solidFill>
                  <a:schemeClr val="accent6"/>
                </a:solidFill>
                <a:latin typeface="Times"/>
                <a:cs typeface="Times"/>
              </a:rPr>
              <a:t>An elastic cable was routed through each arc hole of which there are four sets on each arc. All vertices in the graph shown in Fig. 4d are even, thus a single cable followed the Euler’s path through all vertices. The cable segments were tightened as necessary until the arcs were properly tensioned.</a:t>
            </a:r>
          </a:p>
        </p:txBody>
      </p:sp>
      <p:sp>
        <p:nvSpPr>
          <p:cNvPr id="15" name="TextBox 14">
            <a:extLst>
              <a:ext uri="{FF2B5EF4-FFF2-40B4-BE49-F238E27FC236}">
                <a16:creationId xmlns:a16="http://schemas.microsoft.com/office/drawing/2014/main" id="{A907EB93-DBCD-8362-0563-494A827661C5}"/>
              </a:ext>
            </a:extLst>
          </p:cNvPr>
          <p:cNvSpPr txBox="1"/>
          <p:nvPr/>
        </p:nvSpPr>
        <p:spPr>
          <a:xfrm>
            <a:off x="849432" y="30029146"/>
            <a:ext cx="6107677" cy="538609"/>
          </a:xfrm>
          <a:prstGeom prst="rect">
            <a:avLst/>
          </a:prstGeom>
          <a:noFill/>
        </p:spPr>
        <p:txBody>
          <a:bodyPr wrap="square" lIns="91440" tIns="45720" rIns="91440" bIns="45720" rtlCol="0" anchor="t">
            <a:spAutoFit/>
          </a:bodyPr>
          <a:lstStyle/>
          <a:p>
            <a:pPr algn="ctr"/>
            <a:r>
              <a:rPr lang="en-US" sz="2900" dirty="0">
                <a:solidFill>
                  <a:schemeClr val="accent6"/>
                </a:solidFill>
                <a:latin typeface="Times"/>
                <a:cs typeface="Minion Pro"/>
              </a:rPr>
              <a:t>Fig. 2: TeXploreR Prototype</a:t>
            </a:r>
            <a:endParaRPr lang="en-US" sz="2900" dirty="0">
              <a:solidFill>
                <a:schemeClr val="bg1">
                  <a:lumMod val="50000"/>
                </a:schemeClr>
              </a:solidFill>
              <a:latin typeface="Times"/>
              <a:cs typeface="Times"/>
            </a:endParaRPr>
          </a:p>
        </p:txBody>
      </p:sp>
      <p:pic>
        <p:nvPicPr>
          <p:cNvPr id="1038" name="Picture 14">
            <a:extLst>
              <a:ext uri="{FF2B5EF4-FFF2-40B4-BE49-F238E27FC236}">
                <a16:creationId xmlns:a16="http://schemas.microsoft.com/office/drawing/2014/main" id="{B2523D79-A97E-AEBC-9B27-581040A7D80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328" y="30690589"/>
            <a:ext cx="5958394" cy="2237307"/>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a:extLst>
              <a:ext uri="{FF2B5EF4-FFF2-40B4-BE49-F238E27FC236}">
                <a16:creationId xmlns:a16="http://schemas.microsoft.com/office/drawing/2014/main" id="{70A1E6EF-E014-B679-F17B-E3DE525185F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090285" y="30032986"/>
            <a:ext cx="724028" cy="473527"/>
          </a:xfrm>
          <a:prstGeom prst="rect">
            <a:avLst/>
          </a:prstGeom>
          <a:noFill/>
          <a:extLst>
            <a:ext uri="{909E8E84-426E-40DD-AFC4-6F175D3DCCD1}">
              <a14:hiddenFill xmlns:a14="http://schemas.microsoft.com/office/drawing/2010/main">
                <a:solidFill>
                  <a:srgbClr val="FFFFFF"/>
                </a:solidFill>
              </a14:hiddenFill>
            </a:ext>
          </a:extLst>
        </p:spPr>
      </p:pic>
      <p:sp>
        <p:nvSpPr>
          <p:cNvPr id="46" name="TextBox 45">
            <a:extLst>
              <a:ext uri="{FF2B5EF4-FFF2-40B4-BE49-F238E27FC236}">
                <a16:creationId xmlns:a16="http://schemas.microsoft.com/office/drawing/2014/main" id="{D11AB911-5232-446F-B6D8-7F30BFD0E41C}"/>
              </a:ext>
            </a:extLst>
          </p:cNvPr>
          <p:cNvSpPr txBox="1"/>
          <p:nvPr/>
        </p:nvSpPr>
        <p:spPr>
          <a:xfrm>
            <a:off x="32865781" y="27336180"/>
            <a:ext cx="9453339" cy="3293209"/>
          </a:xfrm>
          <a:prstGeom prst="rect">
            <a:avLst/>
          </a:prstGeom>
          <a:noFill/>
        </p:spPr>
        <p:txBody>
          <a:bodyPr wrap="square" lIns="91440" tIns="45720" rIns="91440" bIns="45720" rtlCol="0" anchor="t">
            <a:spAutoFit/>
          </a:bodyPr>
          <a:lstStyle/>
          <a:p>
            <a:pPr marL="514350" indent="-514350" algn="just">
              <a:buAutoNum type="arabicPeriod"/>
            </a:pPr>
            <a:r>
              <a:rPr lang="en-US" sz="1600" dirty="0">
                <a:solidFill>
                  <a:schemeClr val="accent6"/>
                </a:solidFill>
                <a:latin typeface="Times New Roman"/>
                <a:cs typeface="Times"/>
              </a:rPr>
              <a:t>Chen, L.-H., </a:t>
            </a:r>
            <a:r>
              <a:rPr lang="en-US" sz="1600" dirty="0" err="1">
                <a:solidFill>
                  <a:schemeClr val="accent6"/>
                </a:solidFill>
                <a:latin typeface="Times New Roman"/>
                <a:cs typeface="Times"/>
              </a:rPr>
              <a:t>Cera</a:t>
            </a:r>
            <a:r>
              <a:rPr lang="en-US" sz="1600" dirty="0">
                <a:solidFill>
                  <a:schemeClr val="accent6"/>
                </a:solidFill>
                <a:latin typeface="Times New Roman"/>
                <a:cs typeface="Times"/>
              </a:rPr>
              <a:t>, B., Zhu, E. L., Edmunds, R., Rice, F., </a:t>
            </a:r>
            <a:r>
              <a:rPr lang="en-US" sz="1600" dirty="0" err="1">
                <a:solidFill>
                  <a:schemeClr val="accent6"/>
                </a:solidFill>
                <a:latin typeface="Times New Roman"/>
                <a:cs typeface="Times"/>
              </a:rPr>
              <a:t>Bronars</a:t>
            </a:r>
            <a:r>
              <a:rPr lang="en-US" sz="1600" dirty="0">
                <a:solidFill>
                  <a:schemeClr val="accent6"/>
                </a:solidFill>
                <a:latin typeface="Times New Roman"/>
                <a:cs typeface="Times"/>
              </a:rPr>
              <a:t>, A., Tang, E., </a:t>
            </a:r>
            <a:r>
              <a:rPr lang="en-US" sz="1600" dirty="0" err="1">
                <a:solidFill>
                  <a:schemeClr val="accent6"/>
                </a:solidFill>
                <a:latin typeface="Times New Roman"/>
                <a:cs typeface="Times"/>
              </a:rPr>
              <a:t>Malekshahi</a:t>
            </a:r>
            <a:r>
              <a:rPr lang="en-US" sz="1600" dirty="0">
                <a:solidFill>
                  <a:schemeClr val="accent6"/>
                </a:solidFill>
                <a:latin typeface="Times New Roman"/>
                <a:cs typeface="Times"/>
              </a:rPr>
              <a:t>, S. R., Romero, O., Agogino, A. K.; Agogino, A. M. (2017). Inclined surface locomotion strategies for spherical Tensegrity Robots. 2017 IEEE/RSJ International Conference on Intelligent Robots and Systems (IROS). https://doi.org/10.1109/iros.2017.8206380 </a:t>
            </a:r>
          </a:p>
          <a:p>
            <a:pPr marL="514350" indent="-514350" algn="just">
              <a:buAutoNum type="arabicPeriod"/>
            </a:pPr>
            <a:r>
              <a:rPr lang="en-US" sz="1600" dirty="0">
                <a:solidFill>
                  <a:schemeClr val="accent6"/>
                </a:solidFill>
                <a:latin typeface="Times New Roman"/>
                <a:ea typeface="+mn-lt"/>
                <a:cs typeface="+mn-lt"/>
              </a:rPr>
              <a:t>Bohm, V., </a:t>
            </a:r>
            <a:r>
              <a:rPr lang="en-US" sz="1600" dirty="0" err="1">
                <a:solidFill>
                  <a:schemeClr val="accent6"/>
                </a:solidFill>
                <a:latin typeface="Times New Roman"/>
                <a:ea typeface="+mn-lt"/>
                <a:cs typeface="+mn-lt"/>
              </a:rPr>
              <a:t>Kaufhold</a:t>
            </a:r>
            <a:r>
              <a:rPr lang="en-US" sz="1600" dirty="0">
                <a:solidFill>
                  <a:schemeClr val="accent6"/>
                </a:solidFill>
                <a:latin typeface="Times New Roman"/>
                <a:ea typeface="+mn-lt"/>
                <a:cs typeface="+mn-lt"/>
              </a:rPr>
              <a:t>, T., </a:t>
            </a:r>
            <a:r>
              <a:rPr lang="en-US" sz="1600" dirty="0" err="1">
                <a:solidFill>
                  <a:schemeClr val="accent6"/>
                </a:solidFill>
                <a:latin typeface="Times New Roman"/>
                <a:ea typeface="+mn-lt"/>
                <a:cs typeface="+mn-lt"/>
              </a:rPr>
              <a:t>Schale</a:t>
            </a:r>
            <a:r>
              <a:rPr lang="en-US" sz="1600" dirty="0">
                <a:solidFill>
                  <a:schemeClr val="accent6"/>
                </a:solidFill>
                <a:latin typeface="Times New Roman"/>
                <a:ea typeface="+mn-lt"/>
                <a:cs typeface="+mn-lt"/>
              </a:rPr>
              <a:t>, F., &amp; Zimmermann, K. (2016). Spherical mobile robot based on a tensegrity structure with curved compressed members. IEEE/ASME International Conference on Advanced Intelligent Mechatronics, AIM, 2016-09,1509–1514. </a:t>
            </a:r>
            <a:r>
              <a:rPr lang="en-US" sz="1600" dirty="0">
                <a:solidFill>
                  <a:schemeClr val="accent6"/>
                </a:solidFill>
                <a:latin typeface="Times New Roman"/>
                <a:ea typeface="+mn-lt"/>
                <a:cs typeface="+mn-lt"/>
                <a:hlinkClick r:id="rId11"/>
              </a:rPr>
              <a:t>https://doi.org/10.1109/AIM.2016.7576984</a:t>
            </a:r>
            <a:endParaRPr lang="en-US" sz="1600" dirty="0">
              <a:solidFill>
                <a:schemeClr val="accent6"/>
              </a:solidFill>
              <a:latin typeface="Times New Roman"/>
              <a:ea typeface="+mn-lt"/>
              <a:cs typeface="+mn-lt"/>
            </a:endParaRPr>
          </a:p>
          <a:p>
            <a:pPr marL="514350" indent="-514350" algn="just">
              <a:buAutoNum type="arabicPeriod"/>
            </a:pPr>
            <a:r>
              <a:rPr lang="en-US" sz="1600" dirty="0">
                <a:solidFill>
                  <a:schemeClr val="accent6"/>
                </a:solidFill>
                <a:latin typeface="Times New Roman"/>
                <a:cs typeface="Times"/>
              </a:rPr>
              <a:t>Paul, C., Valero-Cuevas, F. J., &amp;amp; Lipson, H. (2006). Design and control of Tensegrity robots for Locomotion. IEEE Transactions on Robotics, 22(5), 944–957. https://doi.org/10.1109/tro.2006.878980 </a:t>
            </a:r>
          </a:p>
          <a:p>
            <a:pPr marL="514350" indent="-514350" algn="just">
              <a:buAutoNum type="arabicPeriod"/>
            </a:pPr>
            <a:r>
              <a:rPr lang="en-US" sz="1600" dirty="0">
                <a:solidFill>
                  <a:schemeClr val="accent6"/>
                </a:solidFill>
                <a:latin typeface="Times New Roman"/>
                <a:cs typeface="Times"/>
              </a:rPr>
              <a:t>Kim, K., Chen, L.-H., </a:t>
            </a:r>
            <a:r>
              <a:rPr lang="en-US" sz="1600" dirty="0" err="1">
                <a:solidFill>
                  <a:schemeClr val="accent6"/>
                </a:solidFill>
                <a:latin typeface="Times New Roman"/>
                <a:cs typeface="Times"/>
              </a:rPr>
              <a:t>Cera</a:t>
            </a:r>
            <a:r>
              <a:rPr lang="en-US" sz="1600" dirty="0">
                <a:solidFill>
                  <a:schemeClr val="accent6"/>
                </a:solidFill>
                <a:latin typeface="Times New Roman"/>
                <a:cs typeface="Times"/>
              </a:rPr>
              <a:t>, B., Daly, M., Zhu, E., </a:t>
            </a:r>
            <a:r>
              <a:rPr lang="en-US" sz="1600" dirty="0" err="1">
                <a:solidFill>
                  <a:schemeClr val="accent6"/>
                </a:solidFill>
                <a:latin typeface="Times New Roman"/>
                <a:cs typeface="Times"/>
              </a:rPr>
              <a:t>Despois</a:t>
            </a:r>
            <a:r>
              <a:rPr lang="en-US" sz="1600" dirty="0">
                <a:solidFill>
                  <a:schemeClr val="accent6"/>
                </a:solidFill>
                <a:latin typeface="Times New Roman"/>
                <a:cs typeface="Times"/>
              </a:rPr>
              <a:t>, J., Agogino, A. K., </a:t>
            </a:r>
            <a:r>
              <a:rPr lang="en-US" sz="1600" dirty="0" err="1">
                <a:solidFill>
                  <a:schemeClr val="accent6"/>
                </a:solidFill>
                <a:latin typeface="Times New Roman"/>
                <a:cs typeface="Times"/>
              </a:rPr>
              <a:t>SunSpiral</a:t>
            </a:r>
            <a:r>
              <a:rPr lang="en-US" sz="1600" dirty="0">
                <a:solidFill>
                  <a:schemeClr val="accent6"/>
                </a:solidFill>
                <a:latin typeface="Times New Roman"/>
                <a:cs typeface="Times"/>
              </a:rPr>
              <a:t>, V.; Agogino, A. M. (2016). Hopping and rolling locomotion with spherical Tensegrity Robots. 2016 IEEE/RSJ International Conference on Intelligent Robots and Systems (IROS). https://doi.org/10.1109/iros.2016.7759643 </a:t>
            </a:r>
          </a:p>
        </p:txBody>
      </p:sp>
      <p:sp>
        <p:nvSpPr>
          <p:cNvPr id="53" name="TextBox 52">
            <a:extLst>
              <a:ext uri="{FF2B5EF4-FFF2-40B4-BE49-F238E27FC236}">
                <a16:creationId xmlns:a16="http://schemas.microsoft.com/office/drawing/2014/main" id="{B6141AED-3196-04F5-CE60-E3D406D1EF07}"/>
              </a:ext>
            </a:extLst>
          </p:cNvPr>
          <p:cNvSpPr txBox="1"/>
          <p:nvPr/>
        </p:nvSpPr>
        <p:spPr>
          <a:xfrm>
            <a:off x="8147247" y="11821049"/>
            <a:ext cx="8365383" cy="538609"/>
          </a:xfrm>
          <a:prstGeom prst="rect">
            <a:avLst/>
          </a:prstGeom>
          <a:noFill/>
        </p:spPr>
        <p:txBody>
          <a:bodyPr wrap="square" lIns="91440" tIns="45720" rIns="91440" bIns="45720" rtlCol="0" anchor="t">
            <a:spAutoFit/>
          </a:bodyPr>
          <a:lstStyle/>
          <a:p>
            <a:pPr algn="ctr"/>
            <a:r>
              <a:rPr lang="en-US" sz="2900" dirty="0">
                <a:solidFill>
                  <a:schemeClr val="accent6"/>
                </a:solidFill>
                <a:latin typeface="Times"/>
                <a:cs typeface="Minion Pro"/>
              </a:rPr>
              <a:t>Fig. 1: Tensegrity Robot Locomotion Speed</a:t>
            </a:r>
            <a:endParaRPr lang="en-US" sz="2900" dirty="0">
              <a:solidFill>
                <a:schemeClr val="bg1">
                  <a:lumMod val="50000"/>
                </a:schemeClr>
              </a:solidFill>
              <a:latin typeface="Times"/>
              <a:cs typeface="Times"/>
            </a:endParaRPr>
          </a:p>
        </p:txBody>
      </p:sp>
      <p:sp>
        <p:nvSpPr>
          <p:cNvPr id="54" name="TextBox 53">
            <a:extLst>
              <a:ext uri="{FF2B5EF4-FFF2-40B4-BE49-F238E27FC236}">
                <a16:creationId xmlns:a16="http://schemas.microsoft.com/office/drawing/2014/main" id="{1382CF3A-D13B-4CF5-A445-9D7468AC2457}"/>
              </a:ext>
            </a:extLst>
          </p:cNvPr>
          <p:cNvSpPr txBox="1"/>
          <p:nvPr/>
        </p:nvSpPr>
        <p:spPr>
          <a:xfrm>
            <a:off x="24618308" y="30086324"/>
            <a:ext cx="6447312" cy="538609"/>
          </a:xfrm>
          <a:prstGeom prst="rect">
            <a:avLst/>
          </a:prstGeom>
          <a:noFill/>
        </p:spPr>
        <p:txBody>
          <a:bodyPr wrap="square" lIns="91440" tIns="45720" rIns="91440" bIns="45720" rtlCol="0" anchor="t">
            <a:spAutoFit/>
          </a:bodyPr>
          <a:lstStyle/>
          <a:p>
            <a:pPr algn="ctr"/>
            <a:r>
              <a:rPr lang="en-US" sz="2900" dirty="0">
                <a:solidFill>
                  <a:schemeClr val="accent6"/>
                </a:solidFill>
                <a:latin typeface="Times"/>
                <a:cs typeface="Minion Pro"/>
              </a:rPr>
              <a:t>Fig. 4: TeXploreR Fabrication Process</a:t>
            </a:r>
            <a:endParaRPr lang="en-US" sz="2900" dirty="0">
              <a:solidFill>
                <a:schemeClr val="bg1">
                  <a:lumMod val="50000"/>
                </a:schemeClr>
              </a:solidFill>
              <a:latin typeface="Times"/>
              <a:cs typeface="Times"/>
            </a:endParaRPr>
          </a:p>
        </p:txBody>
      </p:sp>
      <p:sp>
        <p:nvSpPr>
          <p:cNvPr id="61" name="TextBox 60">
            <a:extLst>
              <a:ext uri="{FF2B5EF4-FFF2-40B4-BE49-F238E27FC236}">
                <a16:creationId xmlns:a16="http://schemas.microsoft.com/office/drawing/2014/main" id="{BEAB4ACB-BCEB-9E22-1BEC-3F2FE46A341B}"/>
              </a:ext>
            </a:extLst>
          </p:cNvPr>
          <p:cNvSpPr txBox="1"/>
          <p:nvPr/>
        </p:nvSpPr>
        <p:spPr>
          <a:xfrm>
            <a:off x="7126353" y="29974834"/>
            <a:ext cx="6107677" cy="538609"/>
          </a:xfrm>
          <a:prstGeom prst="rect">
            <a:avLst/>
          </a:prstGeom>
          <a:noFill/>
        </p:spPr>
        <p:txBody>
          <a:bodyPr wrap="square" lIns="91440" tIns="45720" rIns="91440" bIns="45720" rtlCol="0" anchor="t">
            <a:spAutoFit/>
          </a:bodyPr>
          <a:lstStyle/>
          <a:p>
            <a:pPr algn="ctr"/>
            <a:r>
              <a:rPr lang="en-US" sz="2900" dirty="0">
                <a:solidFill>
                  <a:schemeClr val="accent6"/>
                </a:solidFill>
                <a:latin typeface="Times"/>
                <a:cs typeface="Minion Pro"/>
              </a:rPr>
              <a:t>Fig. 3: Communication Framework</a:t>
            </a:r>
            <a:endParaRPr lang="en-US" sz="2900" dirty="0">
              <a:solidFill>
                <a:schemeClr val="bg1">
                  <a:lumMod val="50000"/>
                </a:schemeClr>
              </a:solidFill>
              <a:latin typeface="Times"/>
              <a:cs typeface="Times"/>
            </a:endParaRPr>
          </a:p>
        </p:txBody>
      </p:sp>
      <p:sp>
        <p:nvSpPr>
          <p:cNvPr id="64" name="TextBox 63">
            <a:extLst>
              <a:ext uri="{FF2B5EF4-FFF2-40B4-BE49-F238E27FC236}">
                <a16:creationId xmlns:a16="http://schemas.microsoft.com/office/drawing/2014/main" id="{E53DDE92-7DD1-4491-3FCE-ADC374DF0327}"/>
              </a:ext>
            </a:extLst>
          </p:cNvPr>
          <p:cNvSpPr txBox="1"/>
          <p:nvPr/>
        </p:nvSpPr>
        <p:spPr>
          <a:xfrm>
            <a:off x="1022134" y="19800167"/>
            <a:ext cx="12573549" cy="5447645"/>
          </a:xfrm>
          <a:prstGeom prst="rect">
            <a:avLst/>
          </a:prstGeom>
          <a:noFill/>
        </p:spPr>
        <p:txBody>
          <a:bodyPr wrap="square" lIns="91440" tIns="45720" rIns="91440" bIns="45720" rtlCol="0" anchor="t">
            <a:spAutoFit/>
          </a:bodyPr>
          <a:lstStyle/>
          <a:p>
            <a:pPr marL="457200" indent="-457200">
              <a:buFont typeface="Arial" panose="020B0604020202020204" pitchFamily="34" charset="0"/>
              <a:buChar char="•"/>
            </a:pPr>
            <a:r>
              <a:rPr lang="en-US" sz="2900" dirty="0">
                <a:solidFill>
                  <a:schemeClr val="accent6"/>
                </a:solidFill>
                <a:latin typeface="Times"/>
                <a:cs typeface="Minion Pro"/>
              </a:rPr>
              <a:t>3D printed TeXploreR prototype shown in Fig. 2</a:t>
            </a:r>
          </a:p>
          <a:p>
            <a:pPr marL="457200" indent="-457200">
              <a:buFont typeface="Arial" panose="020B0604020202020204" pitchFamily="34" charset="0"/>
              <a:buChar char="•"/>
            </a:pPr>
            <a:r>
              <a:rPr lang="en-US" sz="2900" dirty="0">
                <a:solidFill>
                  <a:schemeClr val="accent6"/>
                </a:solidFill>
                <a:latin typeface="Times"/>
                <a:cs typeface="Minion Pro"/>
              </a:rPr>
              <a:t>400 mm diameter</a:t>
            </a:r>
          </a:p>
          <a:p>
            <a:pPr marL="457200" indent="-457200">
              <a:buFont typeface="Arial" panose="020B0604020202020204" pitchFamily="34" charset="0"/>
              <a:buChar char="•"/>
            </a:pPr>
            <a:r>
              <a:rPr lang="en-US" sz="2900" dirty="0">
                <a:solidFill>
                  <a:schemeClr val="accent6"/>
                </a:solidFill>
                <a:latin typeface="Times"/>
                <a:cs typeface="Minion Pro"/>
              </a:rPr>
              <a:t>~150 cm</a:t>
            </a:r>
            <a:r>
              <a:rPr lang="en-US" sz="2900" baseline="30000" dirty="0">
                <a:solidFill>
                  <a:schemeClr val="accent6"/>
                </a:solidFill>
                <a:latin typeface="Times"/>
                <a:cs typeface="Minion Pro"/>
              </a:rPr>
              <a:t>3</a:t>
            </a:r>
            <a:r>
              <a:rPr lang="en-US" sz="2900" dirty="0">
                <a:solidFill>
                  <a:schemeClr val="accent6"/>
                </a:solidFill>
                <a:latin typeface="Times"/>
                <a:cs typeface="Minion Pro"/>
              </a:rPr>
              <a:t> storage endcaps for internal science payloads</a:t>
            </a:r>
          </a:p>
          <a:p>
            <a:pPr marL="457200" indent="-457200">
              <a:buFont typeface="Arial" panose="020B0604020202020204" pitchFamily="34" charset="0"/>
              <a:buChar char="•"/>
            </a:pPr>
            <a:r>
              <a:rPr lang="en-US" sz="2900" dirty="0">
                <a:solidFill>
                  <a:schemeClr val="accent6"/>
                </a:solidFill>
                <a:latin typeface="Times"/>
                <a:cs typeface="Minion Pro"/>
              </a:rPr>
              <a:t>The two arcs are held in tension with a continuous elastic cable</a:t>
            </a:r>
          </a:p>
          <a:p>
            <a:pPr marL="457200" indent="-457200">
              <a:buFont typeface="Arial" panose="020B0604020202020204" pitchFamily="34" charset="0"/>
              <a:buChar char="•"/>
            </a:pPr>
            <a:r>
              <a:rPr lang="en-US" sz="2900" dirty="0">
                <a:solidFill>
                  <a:schemeClr val="accent6"/>
                </a:solidFill>
                <a:latin typeface="Times"/>
                <a:cs typeface="Minion Pro"/>
              </a:rPr>
              <a:t>TeXploreR is mobilized via an internal motor assembly running along each arc</a:t>
            </a:r>
          </a:p>
          <a:p>
            <a:pPr marL="457200" indent="-457200">
              <a:buFont typeface="Arial" panose="020B0604020202020204" pitchFamily="34" charset="0"/>
              <a:buChar char="•"/>
            </a:pPr>
            <a:r>
              <a:rPr lang="en-US" sz="2900" dirty="0">
                <a:solidFill>
                  <a:schemeClr val="accent6"/>
                </a:solidFill>
                <a:latin typeface="Times"/>
                <a:cs typeface="Minion Pro"/>
              </a:rPr>
              <a:t>Each arc contains a separate PCB to control each motor</a:t>
            </a:r>
          </a:p>
          <a:p>
            <a:pPr marL="457200" indent="-457200">
              <a:buFont typeface="Arial" panose="020B0604020202020204" pitchFamily="34" charset="0"/>
              <a:buChar char="•"/>
            </a:pPr>
            <a:r>
              <a:rPr lang="en-US" sz="2900" dirty="0">
                <a:solidFill>
                  <a:schemeClr val="accent6"/>
                </a:solidFill>
                <a:latin typeface="Times"/>
                <a:cs typeface="Minion Pro"/>
              </a:rPr>
              <a:t>The robot is made tetherless with two LiPo batteries</a:t>
            </a:r>
          </a:p>
          <a:p>
            <a:pPr marL="457200" indent="-457200">
              <a:buFont typeface="Arial" panose="020B0604020202020204" pitchFamily="34" charset="0"/>
              <a:buChar char="•"/>
            </a:pPr>
            <a:r>
              <a:rPr lang="en-US" sz="2900" dirty="0">
                <a:solidFill>
                  <a:schemeClr val="accent6"/>
                </a:solidFill>
                <a:latin typeface="Times"/>
                <a:cs typeface="Minion Pro"/>
              </a:rPr>
              <a:t>The motor circuits are controlled and synced together for precise timing over-the-air through variable sharing on Arduino IoT Cloud - communication framework is shown in Fig. 3 </a:t>
            </a:r>
          </a:p>
          <a:p>
            <a:pPr marL="457200" indent="-457200">
              <a:buFont typeface="Arial" panose="020B0604020202020204" pitchFamily="34" charset="0"/>
              <a:buChar char="•"/>
            </a:pPr>
            <a:r>
              <a:rPr lang="en-US" sz="2900" dirty="0">
                <a:solidFill>
                  <a:schemeClr val="accent6"/>
                </a:solidFill>
                <a:latin typeface="Times"/>
                <a:cs typeface="Minion Pro"/>
              </a:rPr>
              <a:t>Accelerometer and gyroscope data from a 6-axis on-board IMU is recorded for additional monitoring and control in the future</a:t>
            </a:r>
            <a:endParaRPr lang="en-US" sz="2800" dirty="0">
              <a:solidFill>
                <a:schemeClr val="bg1">
                  <a:lumMod val="50000"/>
                </a:schemeClr>
              </a:solidFill>
              <a:latin typeface="Times"/>
              <a:cs typeface="Times"/>
            </a:endParaRPr>
          </a:p>
        </p:txBody>
      </p:sp>
      <p:sp>
        <p:nvSpPr>
          <p:cNvPr id="13" name="TextBox 12">
            <a:extLst>
              <a:ext uri="{FF2B5EF4-FFF2-40B4-BE49-F238E27FC236}">
                <a16:creationId xmlns:a16="http://schemas.microsoft.com/office/drawing/2014/main" id="{7B4F3592-CA60-50DD-B233-66D1C8D9E224}"/>
              </a:ext>
            </a:extLst>
          </p:cNvPr>
          <p:cNvSpPr txBox="1"/>
          <p:nvPr/>
        </p:nvSpPr>
        <p:spPr>
          <a:xfrm>
            <a:off x="1022134" y="11923428"/>
            <a:ext cx="16020386" cy="6065763"/>
          </a:xfrm>
          <a:prstGeom prst="rect">
            <a:avLst/>
          </a:prstGeom>
          <a:noFill/>
        </p:spPr>
        <p:txBody>
          <a:bodyPr wrap="square" lIns="91440" tIns="45720" rIns="91440" bIns="45720" rtlCol="0" anchor="t">
            <a:spAutoFit/>
          </a:bodyPr>
          <a:lstStyle/>
          <a:p>
            <a:pPr algn="just">
              <a:lnSpc>
                <a:spcPts val="3600"/>
              </a:lnSpc>
            </a:pPr>
            <a:r>
              <a:rPr lang="en-US" sz="2900" dirty="0">
                <a:solidFill>
                  <a:schemeClr val="accent6"/>
                </a:solidFill>
                <a:latin typeface="Times"/>
                <a:cs typeface="Minion Pro"/>
              </a:rPr>
              <a:t>speed  of recent mobile  tensegrity  robots</a:t>
            </a:r>
          </a:p>
          <a:p>
            <a:pPr algn="just">
              <a:lnSpc>
                <a:spcPts val="3600"/>
              </a:lnSpc>
            </a:pPr>
            <a:r>
              <a:rPr lang="en-US" sz="2900" dirty="0">
                <a:solidFill>
                  <a:schemeClr val="accent6"/>
                </a:solidFill>
                <a:latin typeface="Times"/>
                <a:cs typeface="Minion Pro"/>
              </a:rPr>
              <a:t>is shown in Fig. 1. The spherical link robots demonstrates three times the speed of the fastest straight-link counterpart. One of the contributing factors being that the continuous curved arcs are morphologically closer to wheels.</a:t>
            </a:r>
            <a:r>
              <a:rPr lang="en-US" sz="2900" dirty="0">
                <a:solidFill>
                  <a:schemeClr val="accent6"/>
                </a:solidFill>
                <a:latin typeface="Times"/>
                <a:cs typeface="Times"/>
              </a:rPr>
              <a:t> The reality gap of real-time movement in a non-lab setting remains an unsolved problem from perspective of mobility, controls, and design. </a:t>
            </a:r>
          </a:p>
          <a:p>
            <a:pPr algn="just">
              <a:lnSpc>
                <a:spcPts val="3600"/>
              </a:lnSpc>
            </a:pPr>
            <a:endParaRPr lang="en-US" sz="2900" dirty="0">
              <a:solidFill>
                <a:schemeClr val="accent6"/>
              </a:solidFill>
              <a:latin typeface="Times"/>
              <a:cs typeface="Times"/>
            </a:endParaRPr>
          </a:p>
          <a:p>
            <a:pPr algn="just">
              <a:lnSpc>
                <a:spcPts val="3600"/>
              </a:lnSpc>
            </a:pPr>
            <a:r>
              <a:rPr lang="en-US" sz="2900" b="1" u="sng" dirty="0">
                <a:latin typeface="Times"/>
                <a:cs typeface="Times"/>
              </a:rPr>
              <a:t>Contributions:</a:t>
            </a:r>
            <a:r>
              <a:rPr lang="en-US" sz="2900" b="1" dirty="0">
                <a:latin typeface="Times"/>
                <a:cs typeface="Times"/>
              </a:rPr>
              <a:t> We present TeXploreR, the </a:t>
            </a:r>
            <a:r>
              <a:rPr lang="en-US" sz="2900" b="1" u="sng" dirty="0">
                <a:latin typeface="Times"/>
                <a:cs typeface="Times"/>
              </a:rPr>
              <a:t>T</a:t>
            </a:r>
            <a:r>
              <a:rPr lang="en-US" sz="2900" b="1" dirty="0">
                <a:latin typeface="Times"/>
                <a:cs typeface="Times"/>
              </a:rPr>
              <a:t>ensegrity </a:t>
            </a:r>
            <a:r>
              <a:rPr lang="en-US" sz="2900" b="1" u="sng" dirty="0">
                <a:latin typeface="Times"/>
                <a:cs typeface="Times"/>
              </a:rPr>
              <a:t>eXplor</a:t>
            </a:r>
            <a:r>
              <a:rPr lang="en-US" sz="2900" b="1" dirty="0">
                <a:latin typeface="Times"/>
                <a:cs typeface="Times"/>
              </a:rPr>
              <a:t>atory </a:t>
            </a:r>
            <a:r>
              <a:rPr lang="en-US" sz="2900" b="1" u="sng" dirty="0">
                <a:latin typeface="Times"/>
                <a:cs typeface="Times"/>
              </a:rPr>
              <a:t>R</a:t>
            </a:r>
            <a:r>
              <a:rPr lang="en-US" sz="2900" b="1" dirty="0">
                <a:latin typeface="Times"/>
                <a:cs typeface="Times"/>
              </a:rPr>
              <a:t>obot comprised of the following:</a:t>
            </a:r>
          </a:p>
          <a:p>
            <a:pPr marL="514350" indent="-514350" algn="just">
              <a:lnSpc>
                <a:spcPts val="3600"/>
              </a:lnSpc>
              <a:buFont typeface="+mj-lt"/>
              <a:buAutoNum type="arabicPeriod"/>
            </a:pPr>
            <a:r>
              <a:rPr lang="en-US" sz="2900" b="1" dirty="0">
                <a:latin typeface="Times"/>
                <a:cs typeface="Times"/>
              </a:rPr>
              <a:t>Two semi-circular curved links with shifting internal masses; this design provides balance between efficient rolling locomotion and stability (e.g., tip-over on an incline). The curved nature of the links enables fast locomotion, narrowing the reality gap. </a:t>
            </a:r>
          </a:p>
          <a:p>
            <a:pPr marL="514350" indent="-514350" algn="just">
              <a:lnSpc>
                <a:spcPts val="3600"/>
              </a:lnSpc>
              <a:buFont typeface="+mj-lt"/>
              <a:buAutoNum type="arabicPeriod"/>
            </a:pPr>
            <a:r>
              <a:rPr lang="en-US" sz="2900" b="1" dirty="0">
                <a:latin typeface="Times"/>
                <a:cs typeface="Times"/>
              </a:rPr>
              <a:t>This is the first time a non-spherical two-point contact system is kinematically and dynamically modeled. </a:t>
            </a:r>
          </a:p>
          <a:p>
            <a:pPr marL="514350" indent="-514350" algn="just">
              <a:lnSpc>
                <a:spcPts val="3600"/>
              </a:lnSpc>
              <a:buFont typeface="+mj-lt"/>
              <a:buAutoNum type="arabicPeriod"/>
            </a:pPr>
            <a:r>
              <a:rPr lang="en-US" sz="2900" b="1" dirty="0">
                <a:latin typeface="Times"/>
                <a:cs typeface="Times"/>
              </a:rPr>
              <a:t>The static solutions are closed-form and do not require numerical exploration of the solution.</a:t>
            </a:r>
            <a:endParaRPr lang="en-US" sz="2800" b="1" dirty="0">
              <a:latin typeface="Times"/>
              <a:cs typeface="Times"/>
            </a:endParaRPr>
          </a:p>
        </p:txBody>
      </p:sp>
      <p:sp>
        <p:nvSpPr>
          <p:cNvPr id="26" name="TextBox 25">
            <a:extLst>
              <a:ext uri="{FF2B5EF4-FFF2-40B4-BE49-F238E27FC236}">
                <a16:creationId xmlns:a16="http://schemas.microsoft.com/office/drawing/2014/main" id="{388BD3DB-5A4A-BD68-41CD-8761E4423681}"/>
              </a:ext>
            </a:extLst>
          </p:cNvPr>
          <p:cNvSpPr txBox="1"/>
          <p:nvPr/>
        </p:nvSpPr>
        <p:spPr>
          <a:xfrm>
            <a:off x="27106925" y="9968332"/>
            <a:ext cx="7091563" cy="538609"/>
          </a:xfrm>
          <a:prstGeom prst="rect">
            <a:avLst/>
          </a:prstGeom>
          <a:noFill/>
        </p:spPr>
        <p:txBody>
          <a:bodyPr wrap="square" lIns="91440" tIns="45720" rIns="91440" bIns="45720" rtlCol="0" anchor="t">
            <a:spAutoFit/>
          </a:bodyPr>
          <a:lstStyle/>
          <a:p>
            <a:pPr algn="ctr"/>
            <a:r>
              <a:rPr lang="en-US" sz="2900" dirty="0">
                <a:solidFill>
                  <a:schemeClr val="accent6"/>
                </a:solidFill>
                <a:latin typeface="Times"/>
                <a:cs typeface="Minion Pro"/>
              </a:rPr>
              <a:t>Fig. 5: TeXploreR Geometric Representation</a:t>
            </a:r>
            <a:endParaRPr lang="en-US" sz="2900" dirty="0">
              <a:solidFill>
                <a:schemeClr val="bg1">
                  <a:lumMod val="50000"/>
                </a:schemeClr>
              </a:solidFill>
              <a:latin typeface="Times"/>
              <a:cs typeface="Times"/>
            </a:endParaRPr>
          </a:p>
        </p:txBody>
      </p:sp>
      <p:pic>
        <p:nvPicPr>
          <p:cNvPr id="1030" name="Picture 6">
            <a:extLst>
              <a:ext uri="{FF2B5EF4-FFF2-40B4-BE49-F238E27FC236}">
                <a16:creationId xmlns:a16="http://schemas.microsoft.com/office/drawing/2014/main" id="{05A3798A-01B1-E233-2323-91EA50700473}"/>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r="51910"/>
          <a:stretch/>
        </p:blipFill>
        <p:spPr bwMode="auto">
          <a:xfrm>
            <a:off x="24087873" y="21965665"/>
            <a:ext cx="3467260" cy="4059657"/>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10">
            <a:extLst>
              <a:ext uri="{FF2B5EF4-FFF2-40B4-BE49-F238E27FC236}">
                <a16:creationId xmlns:a16="http://schemas.microsoft.com/office/drawing/2014/main" id="{2F221CE9-AC53-76E8-3192-730D6D511712}"/>
              </a:ext>
            </a:extLst>
          </p:cNvPr>
          <p:cNvPicPr>
            <a:picLocks noChangeAspect="1" noChangeArrowheads="1"/>
          </p:cNvPicPr>
          <p:nvPr/>
        </p:nvPicPr>
        <p:blipFill rotWithShape="1">
          <a:blip r:embed="rId13">
            <a:extLst>
              <a:ext uri="{28A0092B-C50C-407E-A947-70E740481C1C}">
                <a14:useLocalDpi xmlns:a14="http://schemas.microsoft.com/office/drawing/2010/main" val="0"/>
              </a:ext>
            </a:extLst>
          </a:blip>
          <a:srcRect l="10894" t="15322" r="46695" b="39866"/>
          <a:stretch/>
        </p:blipFill>
        <p:spPr bwMode="auto">
          <a:xfrm>
            <a:off x="23830213" y="19965263"/>
            <a:ext cx="3804317" cy="2263304"/>
          </a:xfrm>
          <a:prstGeom prst="rect">
            <a:avLst/>
          </a:prstGeom>
          <a:noFill/>
          <a:extLst>
            <a:ext uri="{909E8E84-426E-40DD-AFC4-6F175D3DCCD1}">
              <a14:hiddenFill xmlns:a14="http://schemas.microsoft.com/office/drawing/2010/main">
                <a:solidFill>
                  <a:srgbClr val="FFFFFF"/>
                </a:solidFill>
              </a14:hiddenFill>
            </a:ext>
          </a:extLst>
        </p:spPr>
      </p:pic>
      <p:sp>
        <p:nvSpPr>
          <p:cNvPr id="37" name="Rectangle 36">
            <a:extLst>
              <a:ext uri="{FF2B5EF4-FFF2-40B4-BE49-F238E27FC236}">
                <a16:creationId xmlns:a16="http://schemas.microsoft.com/office/drawing/2014/main" id="{7F59467C-3BD1-F7F2-FE34-CB3CF8E6AE26}"/>
              </a:ext>
            </a:extLst>
          </p:cNvPr>
          <p:cNvSpPr/>
          <p:nvPr/>
        </p:nvSpPr>
        <p:spPr>
          <a:xfrm>
            <a:off x="23743842" y="19866875"/>
            <a:ext cx="8038636" cy="1017429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7" name="Straight Connector 46">
            <a:extLst>
              <a:ext uri="{FF2B5EF4-FFF2-40B4-BE49-F238E27FC236}">
                <a16:creationId xmlns:a16="http://schemas.microsoft.com/office/drawing/2014/main" id="{2BAA565D-D091-2E29-E468-870C4BB18687}"/>
              </a:ext>
            </a:extLst>
          </p:cNvPr>
          <p:cNvCxnSpPr>
            <a:cxnSpLocks/>
          </p:cNvCxnSpPr>
          <p:nvPr/>
        </p:nvCxnSpPr>
        <p:spPr>
          <a:xfrm>
            <a:off x="23745134" y="22454716"/>
            <a:ext cx="8037344" cy="0"/>
          </a:xfrm>
          <a:prstGeom prst="line">
            <a:avLst/>
          </a:prstGeom>
          <a:ln w="9525">
            <a:solidFill>
              <a:srgbClr val="C00000"/>
            </a:solidFill>
          </a:ln>
        </p:spPr>
        <p:style>
          <a:lnRef idx="2">
            <a:schemeClr val="accent1"/>
          </a:lnRef>
          <a:fillRef idx="0">
            <a:schemeClr val="accent1"/>
          </a:fillRef>
          <a:effectRef idx="1">
            <a:schemeClr val="accent1"/>
          </a:effectRef>
          <a:fontRef idx="minor">
            <a:schemeClr val="tx1"/>
          </a:fontRef>
        </p:style>
      </p:cxnSp>
      <p:pic>
        <p:nvPicPr>
          <p:cNvPr id="29" name="Picture 8">
            <a:extLst>
              <a:ext uri="{FF2B5EF4-FFF2-40B4-BE49-F238E27FC236}">
                <a16:creationId xmlns:a16="http://schemas.microsoft.com/office/drawing/2014/main" id="{CDAB53A7-04F2-B31B-3952-EE22B7BBDDCC}"/>
              </a:ext>
            </a:extLst>
          </p:cNvPr>
          <p:cNvPicPr>
            <a:picLocks noChangeAspect="1" noChangeArrowheads="1"/>
          </p:cNvPicPr>
          <p:nvPr/>
        </p:nvPicPr>
        <p:blipFill rotWithShape="1">
          <a:blip r:embed="rId14">
            <a:extLst>
              <a:ext uri="{28A0092B-C50C-407E-A947-70E740481C1C}">
                <a14:useLocalDpi xmlns:a14="http://schemas.microsoft.com/office/drawing/2010/main" val="0"/>
              </a:ext>
            </a:extLst>
          </a:blip>
          <a:srcRect l="26618" r="26586"/>
          <a:stretch/>
        </p:blipFill>
        <p:spPr bwMode="auto">
          <a:xfrm>
            <a:off x="23830213" y="25613187"/>
            <a:ext cx="3803235" cy="4262102"/>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40">
            <a:extLst>
              <a:ext uri="{FF2B5EF4-FFF2-40B4-BE49-F238E27FC236}">
                <a16:creationId xmlns:a16="http://schemas.microsoft.com/office/drawing/2014/main" id="{3DD60554-CA2E-D356-C668-5A7E02B71B10}"/>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21042971" y="31683775"/>
            <a:ext cx="964987" cy="964987"/>
          </a:xfrm>
          <a:prstGeom prst="rect">
            <a:avLst/>
          </a:prstGeom>
        </p:spPr>
      </p:pic>
      <p:sp>
        <p:nvSpPr>
          <p:cNvPr id="42" name="TextBox 41">
            <a:extLst>
              <a:ext uri="{FF2B5EF4-FFF2-40B4-BE49-F238E27FC236}">
                <a16:creationId xmlns:a16="http://schemas.microsoft.com/office/drawing/2014/main" id="{DFEF4759-4BAF-C9D2-BF81-ED8D77DE12BE}"/>
              </a:ext>
            </a:extLst>
          </p:cNvPr>
          <p:cNvSpPr txBox="1"/>
          <p:nvPr/>
        </p:nvSpPr>
        <p:spPr>
          <a:xfrm>
            <a:off x="27634530" y="29524140"/>
            <a:ext cx="649621" cy="538609"/>
          </a:xfrm>
          <a:prstGeom prst="rect">
            <a:avLst/>
          </a:prstGeom>
          <a:noFill/>
        </p:spPr>
        <p:txBody>
          <a:bodyPr wrap="square" lIns="91440" tIns="45720" rIns="91440" bIns="45720" rtlCol="0" anchor="t">
            <a:spAutoFit/>
          </a:bodyPr>
          <a:lstStyle/>
          <a:p>
            <a:pPr algn="ctr"/>
            <a:r>
              <a:rPr lang="en-US" sz="2900" b="1" dirty="0">
                <a:solidFill>
                  <a:schemeClr val="accent6"/>
                </a:solidFill>
                <a:latin typeface="Times"/>
                <a:cs typeface="Minion Pro"/>
              </a:rPr>
              <a:t>(d)</a:t>
            </a:r>
            <a:endParaRPr lang="en-US" sz="2900" b="1" dirty="0">
              <a:solidFill>
                <a:schemeClr val="bg1">
                  <a:lumMod val="50000"/>
                </a:schemeClr>
              </a:solidFill>
              <a:latin typeface="Times"/>
              <a:cs typeface="Times"/>
            </a:endParaRPr>
          </a:p>
        </p:txBody>
      </p:sp>
      <p:sp>
        <p:nvSpPr>
          <p:cNvPr id="45" name="TextBox 44">
            <a:extLst>
              <a:ext uri="{FF2B5EF4-FFF2-40B4-BE49-F238E27FC236}">
                <a16:creationId xmlns:a16="http://schemas.microsoft.com/office/drawing/2014/main" id="{3E2FE686-FAD0-3098-8442-A2F756B2E839}"/>
              </a:ext>
            </a:extLst>
          </p:cNvPr>
          <p:cNvSpPr txBox="1"/>
          <p:nvPr/>
        </p:nvSpPr>
        <p:spPr>
          <a:xfrm>
            <a:off x="23745134" y="29409942"/>
            <a:ext cx="649621" cy="538609"/>
          </a:xfrm>
          <a:prstGeom prst="rect">
            <a:avLst/>
          </a:prstGeom>
          <a:noFill/>
        </p:spPr>
        <p:txBody>
          <a:bodyPr wrap="square" lIns="91440" tIns="45720" rIns="91440" bIns="45720" rtlCol="0" anchor="t">
            <a:spAutoFit/>
          </a:bodyPr>
          <a:lstStyle/>
          <a:p>
            <a:pPr algn="ctr"/>
            <a:r>
              <a:rPr lang="en-US" sz="2900" b="1" dirty="0">
                <a:solidFill>
                  <a:schemeClr val="accent6"/>
                </a:solidFill>
                <a:latin typeface="Times"/>
                <a:cs typeface="Minion Pro"/>
              </a:rPr>
              <a:t>(c)</a:t>
            </a:r>
            <a:endParaRPr lang="en-US" sz="2900" b="1" dirty="0">
              <a:solidFill>
                <a:schemeClr val="bg1">
                  <a:lumMod val="50000"/>
                </a:schemeClr>
              </a:solidFill>
              <a:latin typeface="Times"/>
              <a:cs typeface="Times"/>
            </a:endParaRPr>
          </a:p>
        </p:txBody>
      </p:sp>
      <p:sp>
        <p:nvSpPr>
          <p:cNvPr id="48" name="TextBox 47">
            <a:extLst>
              <a:ext uri="{FF2B5EF4-FFF2-40B4-BE49-F238E27FC236}">
                <a16:creationId xmlns:a16="http://schemas.microsoft.com/office/drawing/2014/main" id="{5B68EE09-86D4-7722-D15B-50710701C600}"/>
              </a:ext>
            </a:extLst>
          </p:cNvPr>
          <p:cNvSpPr txBox="1"/>
          <p:nvPr/>
        </p:nvSpPr>
        <p:spPr>
          <a:xfrm>
            <a:off x="23719223" y="22552687"/>
            <a:ext cx="649621" cy="538609"/>
          </a:xfrm>
          <a:prstGeom prst="rect">
            <a:avLst/>
          </a:prstGeom>
          <a:noFill/>
        </p:spPr>
        <p:txBody>
          <a:bodyPr wrap="square" lIns="91440" tIns="45720" rIns="91440" bIns="45720" rtlCol="0" anchor="t">
            <a:spAutoFit/>
          </a:bodyPr>
          <a:lstStyle/>
          <a:p>
            <a:pPr algn="ctr"/>
            <a:r>
              <a:rPr lang="en-US" sz="2900" b="1" dirty="0">
                <a:solidFill>
                  <a:schemeClr val="accent6"/>
                </a:solidFill>
                <a:latin typeface="Times"/>
                <a:cs typeface="Minion Pro"/>
              </a:rPr>
              <a:t>(b)</a:t>
            </a:r>
            <a:endParaRPr lang="en-US" sz="2900" b="1" dirty="0">
              <a:solidFill>
                <a:schemeClr val="bg1">
                  <a:lumMod val="50000"/>
                </a:schemeClr>
              </a:solidFill>
              <a:latin typeface="Times"/>
              <a:cs typeface="Times"/>
            </a:endParaRPr>
          </a:p>
        </p:txBody>
      </p:sp>
      <p:sp>
        <p:nvSpPr>
          <p:cNvPr id="49" name="TextBox 48">
            <a:extLst>
              <a:ext uri="{FF2B5EF4-FFF2-40B4-BE49-F238E27FC236}">
                <a16:creationId xmlns:a16="http://schemas.microsoft.com/office/drawing/2014/main" id="{E4201757-5BA1-779F-B0F5-6698BF99970C}"/>
              </a:ext>
            </a:extLst>
          </p:cNvPr>
          <p:cNvSpPr txBox="1"/>
          <p:nvPr/>
        </p:nvSpPr>
        <p:spPr>
          <a:xfrm>
            <a:off x="23743841" y="19936601"/>
            <a:ext cx="649621" cy="538609"/>
          </a:xfrm>
          <a:prstGeom prst="rect">
            <a:avLst/>
          </a:prstGeom>
          <a:noFill/>
        </p:spPr>
        <p:txBody>
          <a:bodyPr wrap="square" lIns="91440" tIns="45720" rIns="91440" bIns="45720" rtlCol="0" anchor="t">
            <a:spAutoFit/>
          </a:bodyPr>
          <a:lstStyle/>
          <a:p>
            <a:pPr algn="ctr"/>
            <a:r>
              <a:rPr lang="en-US" sz="2900" b="1" dirty="0">
                <a:solidFill>
                  <a:schemeClr val="accent6"/>
                </a:solidFill>
                <a:latin typeface="Times"/>
                <a:cs typeface="Minion Pro"/>
              </a:rPr>
              <a:t>(a)</a:t>
            </a:r>
            <a:endParaRPr lang="en-US" sz="2900" b="1" dirty="0">
              <a:solidFill>
                <a:schemeClr val="bg1">
                  <a:lumMod val="50000"/>
                </a:schemeClr>
              </a:solidFill>
              <a:latin typeface="Times"/>
              <a:cs typeface="Times"/>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3A017481-45DC-A65E-8C9A-EC739A6E46F9}"/>
                  </a:ext>
                </a:extLst>
              </p:cNvPr>
              <p:cNvSpPr txBox="1"/>
              <p:nvPr/>
            </p:nvSpPr>
            <p:spPr>
              <a:xfrm>
                <a:off x="25804192" y="10593896"/>
                <a:ext cx="9664271" cy="7679025"/>
              </a:xfrm>
              <a:prstGeom prst="rect">
                <a:avLst/>
              </a:prstGeom>
              <a:noFill/>
            </p:spPr>
            <p:txBody>
              <a:bodyPr wrap="square" lIns="91440" tIns="45720" rIns="91440" bIns="45720" rtlCol="0" anchor="t">
                <a:spAutoFit/>
              </a:bodyPr>
              <a:lstStyle/>
              <a:p>
                <a:pPr algn="just"/>
                <a:r>
                  <a:rPr lang="en-US" sz="2900" dirty="0">
                    <a:solidFill>
                      <a:schemeClr val="accent6"/>
                    </a:solidFill>
                    <a:latin typeface="Times"/>
                    <a:cs typeface="Minion Pro"/>
                  </a:rPr>
                  <a:t>An example of TeXploreR in a stable, static position is shown  in Fig. 6. </a:t>
                </a:r>
                <a:r>
                  <a:rPr lang="en-US" sz="2900" b="1" dirty="0">
                    <a:latin typeface="Times"/>
                    <a:cs typeface="Minion Pro"/>
                  </a:rPr>
                  <a:t>The research models the TeXploreR as a hybrid system comprised of four states</a:t>
                </a:r>
                <a:r>
                  <a:rPr lang="en-US" sz="2900" dirty="0">
                    <a:solidFill>
                      <a:schemeClr val="accent6"/>
                    </a:solidFill>
                    <a:latin typeface="Times"/>
                    <a:cs typeface="Minion Pro"/>
                  </a:rPr>
                  <a:t> represented in Table 1. As soon as one internal mass reaches an end point along an arc, the internal mass attached to the other arc begins its traversal. This oscillatory motion results in a piecewise continuous trajectory with </a:t>
                </a:r>
                <a:r>
                  <a:rPr lang="en-US" sz="2900" dirty="0">
                    <a:solidFill>
                      <a:schemeClr val="accent6"/>
                    </a:solidFill>
                    <a:latin typeface="Times"/>
                    <a:cs typeface="Times"/>
                  </a:rPr>
                  <a:t>four distinct traversal states. </a:t>
                </a:r>
                <a:r>
                  <a:rPr lang="en-US" sz="2900" dirty="0">
                    <a:solidFill>
                      <a:schemeClr val="accent6"/>
                    </a:solidFill>
                    <a:latin typeface="Times"/>
                    <a:cs typeface="Minion Pro"/>
                  </a:rPr>
                  <a:t>A set of holonomic constraints confirm the observed hybrid system by constraining </a:t>
                </a:r>
                <a14:m>
                  <m:oMath xmlns:m="http://schemas.openxmlformats.org/officeDocument/2006/math">
                    <m:sSub>
                      <m:sSubPr>
                        <m:ctrlPr>
                          <a:rPr lang="en-US" sz="2900" i="1">
                            <a:solidFill>
                              <a:schemeClr val="accent6"/>
                            </a:solidFill>
                            <a:latin typeface="Cambria Math" panose="02040503050406030204" pitchFamily="18" charset="0"/>
                            <a:cs typeface="Minion Pro"/>
                          </a:rPr>
                        </m:ctrlPr>
                      </m:sSubPr>
                      <m:e>
                        <m:r>
                          <a:rPr lang="en-US" sz="2900" b="1" i="1">
                            <a:solidFill>
                              <a:schemeClr val="accent6"/>
                            </a:solidFill>
                            <a:latin typeface="Cambria Math" panose="02040503050406030204" pitchFamily="18" charset="0"/>
                            <a:cs typeface="Minion Pro"/>
                          </a:rPr>
                          <m:t>𝒛</m:t>
                        </m:r>
                      </m:e>
                      <m:sub>
                        <m:r>
                          <a:rPr lang="en-US" sz="2900" i="1">
                            <a:solidFill>
                              <a:schemeClr val="accent6"/>
                            </a:solidFill>
                            <a:latin typeface="Cambria Math" panose="02040503050406030204" pitchFamily="18" charset="0"/>
                            <a:cs typeface="Minion Pro"/>
                          </a:rPr>
                          <m:t>𝑏</m:t>
                        </m:r>
                      </m:sub>
                    </m:sSub>
                  </m:oMath>
                </a14:m>
                <a:r>
                  <a:rPr lang="en-US" sz="2900" dirty="0">
                    <a:solidFill>
                      <a:schemeClr val="accent6"/>
                    </a:solidFill>
                    <a:latin typeface="Times"/>
                    <a:cs typeface="Minion Pro"/>
                  </a:rPr>
                  <a:t> for a given </a:t>
                </a:r>
                <a14:m>
                  <m:oMath xmlns:m="http://schemas.openxmlformats.org/officeDocument/2006/math">
                    <m:sSub>
                      <m:sSubPr>
                        <m:ctrlPr>
                          <a:rPr lang="en-US" sz="2900" i="1">
                            <a:solidFill>
                              <a:schemeClr val="accent6"/>
                            </a:solidFill>
                            <a:latin typeface="Cambria Math" panose="02040503050406030204" pitchFamily="18" charset="0"/>
                            <a:cs typeface="Minion Pro"/>
                          </a:rPr>
                        </m:ctrlPr>
                      </m:sSubPr>
                      <m:e>
                        <m:r>
                          <a:rPr lang="en-US" sz="2900" i="1">
                            <a:solidFill>
                              <a:schemeClr val="accent6"/>
                            </a:solidFill>
                            <a:latin typeface="Cambria Math" panose="02040503050406030204" pitchFamily="18" charset="0"/>
                            <a:cs typeface="Minion Pro"/>
                          </a:rPr>
                          <m:t>𝜙</m:t>
                        </m:r>
                      </m:e>
                      <m:sub>
                        <m:r>
                          <a:rPr lang="en-US" sz="2900" i="1">
                            <a:solidFill>
                              <a:schemeClr val="accent6"/>
                            </a:solidFill>
                            <a:latin typeface="Cambria Math" panose="02040503050406030204" pitchFamily="18" charset="0"/>
                            <a:cs typeface="Minion Pro"/>
                          </a:rPr>
                          <m:t>𝑖</m:t>
                        </m:r>
                      </m:sub>
                    </m:sSub>
                  </m:oMath>
                </a14:m>
                <a:r>
                  <a:rPr lang="en-US" sz="2900" dirty="0">
                    <a:solidFill>
                      <a:schemeClr val="accent6"/>
                    </a:solidFill>
                    <a:latin typeface="Times"/>
                    <a:cs typeface="Minion Pro"/>
                  </a:rPr>
                  <a:t> value. The wrench of all the forces acting on the body, </a:t>
                </a:r>
                <a14:m>
                  <m:oMath xmlns:m="http://schemas.openxmlformats.org/officeDocument/2006/math">
                    <m:sSub>
                      <m:sSubPr>
                        <m:ctrlPr>
                          <a:rPr lang="en-US" sz="2900" b="0" i="1" dirty="0" smtClean="0">
                            <a:solidFill>
                              <a:schemeClr val="accent6"/>
                            </a:solidFill>
                            <a:latin typeface="Cambria Math" panose="02040503050406030204" pitchFamily="18" charset="0"/>
                            <a:cs typeface="Minion Pro"/>
                          </a:rPr>
                        </m:ctrlPr>
                      </m:sSubPr>
                      <m:e>
                        <m:r>
                          <a:rPr lang="en-US" sz="2900" i="1" dirty="0" smtClean="0">
                            <a:solidFill>
                              <a:schemeClr val="accent6"/>
                            </a:solidFill>
                            <a:latin typeface="Cambria Math" panose="02040503050406030204" pitchFamily="18" charset="0"/>
                            <a:ea typeface="Cambria Math" panose="02040503050406030204" pitchFamily="18" charset="0"/>
                            <a:cs typeface="Minion Pro"/>
                          </a:rPr>
                          <m:t>ℱ</m:t>
                        </m:r>
                      </m:e>
                      <m:sub>
                        <m:r>
                          <a:rPr lang="en-US" sz="2900" b="0" i="1" dirty="0" smtClean="0">
                            <a:solidFill>
                              <a:schemeClr val="accent6"/>
                            </a:solidFill>
                            <a:latin typeface="Cambria Math" panose="02040503050406030204" pitchFamily="18" charset="0"/>
                            <a:cs typeface="Minion Pro"/>
                          </a:rPr>
                          <m:t>𝑏</m:t>
                        </m:r>
                      </m:sub>
                    </m:sSub>
                  </m:oMath>
                </a14:m>
                <a:r>
                  <a:rPr lang="en-US" sz="2900" dirty="0">
                    <a:solidFill>
                      <a:schemeClr val="accent6"/>
                    </a:solidFill>
                    <a:latin typeface="Times"/>
                    <a:cs typeface="Minion Pro"/>
                  </a:rPr>
                  <a:t>, is comprised of the total force and moment acting on the body that sums to zero about </a:t>
                </a:r>
                <a14:m>
                  <m:oMath xmlns:m="http://schemas.openxmlformats.org/officeDocument/2006/math">
                    <m:sSub>
                      <m:sSubPr>
                        <m:ctrlPr>
                          <a:rPr lang="en-US" sz="2900" b="0" i="1" smtClean="0">
                            <a:solidFill>
                              <a:schemeClr val="accent6"/>
                            </a:solidFill>
                            <a:latin typeface="Cambria Math" panose="02040503050406030204" pitchFamily="18" charset="0"/>
                            <a:cs typeface="Minion Pro"/>
                          </a:rPr>
                        </m:ctrlPr>
                      </m:sSubPr>
                      <m:e>
                        <m:r>
                          <a:rPr lang="en-US" sz="2900" b="0" i="1" smtClean="0">
                            <a:solidFill>
                              <a:schemeClr val="accent6"/>
                            </a:solidFill>
                            <a:latin typeface="Cambria Math" panose="02040503050406030204" pitchFamily="18" charset="0"/>
                            <a:cs typeface="Minion Pro"/>
                          </a:rPr>
                          <m:t>𝑂</m:t>
                        </m:r>
                      </m:e>
                      <m:sub>
                        <m:r>
                          <a:rPr lang="en-US" sz="2900" b="0" i="1" smtClean="0">
                            <a:solidFill>
                              <a:schemeClr val="accent6"/>
                            </a:solidFill>
                            <a:latin typeface="Cambria Math" panose="02040503050406030204" pitchFamily="18" charset="0"/>
                            <a:cs typeface="Minion Pro"/>
                          </a:rPr>
                          <m:t>𝑏</m:t>
                        </m:r>
                      </m:sub>
                    </m:sSub>
                  </m:oMath>
                </a14:m>
                <a:r>
                  <a:rPr lang="en-US" sz="2900" dirty="0">
                    <a:solidFill>
                      <a:schemeClr val="accent6"/>
                    </a:solidFill>
                    <a:latin typeface="Times"/>
                    <a:cs typeface="Minion Pro"/>
                  </a:rPr>
                  <a:t> shown in Eq. 1. This results in a closed form solution depending on the hybrid system state. A set of non-holonomic constraints reduce the solutions space from six degrees-of-freedom to two explicit parameters, greatly simplifying future dynamic modeling. The geometric representation using Lie Groups and Screw Theory is crucial for simpler representation of non-holonomic constraints.​ </a:t>
                </a:r>
                <a:endParaRPr lang="en-US" sz="2900" dirty="0">
                  <a:solidFill>
                    <a:schemeClr val="accent6"/>
                  </a:solidFill>
                  <a:latin typeface="Times"/>
                  <a:cs typeface="Times"/>
                </a:endParaRPr>
              </a:p>
            </p:txBody>
          </p:sp>
        </mc:Choice>
        <mc:Fallback>
          <p:sp>
            <p:nvSpPr>
              <p:cNvPr id="2" name="TextBox 1">
                <a:extLst>
                  <a:ext uri="{FF2B5EF4-FFF2-40B4-BE49-F238E27FC236}">
                    <a16:creationId xmlns:a16="http://schemas.microsoft.com/office/drawing/2014/main" id="{3A017481-45DC-A65E-8C9A-EC739A6E46F9}"/>
                  </a:ext>
                </a:extLst>
              </p:cNvPr>
              <p:cNvSpPr txBox="1">
                <a:spLocks noRot="1" noChangeAspect="1" noMove="1" noResize="1" noEditPoints="1" noAdjustHandles="1" noChangeArrowheads="1" noChangeShapeType="1" noTextEdit="1"/>
              </p:cNvSpPr>
              <p:nvPr/>
            </p:nvSpPr>
            <p:spPr>
              <a:xfrm>
                <a:off x="25804192" y="10593896"/>
                <a:ext cx="9664271" cy="7679025"/>
              </a:xfrm>
              <a:prstGeom prst="rect">
                <a:avLst/>
              </a:prstGeom>
              <a:blipFill>
                <a:blip r:embed="rId16"/>
                <a:stretch>
                  <a:fillRect l="-1388" t="-873" r="-1325" b="-1270"/>
                </a:stretch>
              </a:blipFill>
            </p:spPr>
            <p:txBody>
              <a:bodyPr/>
              <a:lstStyle/>
              <a:p>
                <a:r>
                  <a:rPr lang="en-US">
                    <a:noFill/>
                  </a:rPr>
                  <a:t> </a:t>
                </a:r>
              </a:p>
            </p:txBody>
          </p:sp>
        </mc:Fallback>
      </mc:AlternateContent>
      <p:cxnSp>
        <p:nvCxnSpPr>
          <p:cNvPr id="8" name="Straight Connector 7">
            <a:extLst>
              <a:ext uri="{FF2B5EF4-FFF2-40B4-BE49-F238E27FC236}">
                <a16:creationId xmlns:a16="http://schemas.microsoft.com/office/drawing/2014/main" id="{9E348D94-35BC-53EE-9E1D-A64B913367D2}"/>
              </a:ext>
            </a:extLst>
          </p:cNvPr>
          <p:cNvCxnSpPr>
            <a:cxnSpLocks/>
          </p:cNvCxnSpPr>
          <p:nvPr/>
        </p:nvCxnSpPr>
        <p:spPr>
          <a:xfrm>
            <a:off x="23734249" y="25219687"/>
            <a:ext cx="8048229" cy="0"/>
          </a:xfrm>
          <a:prstGeom prst="line">
            <a:avLst/>
          </a:prstGeom>
          <a:ln w="952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B259EBFE-A4F5-4D39-33CF-AEF7322CF619}"/>
              </a:ext>
            </a:extLst>
          </p:cNvPr>
          <p:cNvCxnSpPr>
            <a:cxnSpLocks/>
          </p:cNvCxnSpPr>
          <p:nvPr/>
        </p:nvCxnSpPr>
        <p:spPr>
          <a:xfrm>
            <a:off x="27555133" y="25219687"/>
            <a:ext cx="0" cy="4853807"/>
          </a:xfrm>
          <a:prstGeom prst="line">
            <a:avLst/>
          </a:prstGeom>
          <a:ln w="9525">
            <a:solidFill>
              <a:srgbClr val="C00000"/>
            </a:solidFill>
          </a:ln>
        </p:spPr>
        <p:style>
          <a:lnRef idx="2">
            <a:schemeClr val="accent1"/>
          </a:lnRef>
          <a:fillRef idx="0">
            <a:schemeClr val="accent1"/>
          </a:fillRef>
          <a:effectRef idx="1">
            <a:schemeClr val="accent1"/>
          </a:effectRef>
          <a:fontRef idx="minor">
            <a:schemeClr val="tx1"/>
          </a:fontRef>
        </p:style>
      </p:cxnSp>
      <p:pic>
        <p:nvPicPr>
          <p:cNvPr id="40" name="Picture 39">
            <a:extLst>
              <a:ext uri="{FF2B5EF4-FFF2-40B4-BE49-F238E27FC236}">
                <a16:creationId xmlns:a16="http://schemas.microsoft.com/office/drawing/2014/main" id="{144EF3FA-D4AD-1428-E019-DEAE65C5E870}"/>
              </a:ext>
            </a:extLst>
          </p:cNvPr>
          <p:cNvPicPr>
            <a:picLocks noChangeAspect="1"/>
          </p:cNvPicPr>
          <p:nvPr/>
        </p:nvPicPr>
        <p:blipFill>
          <a:blip r:embed="rId17"/>
          <a:stretch>
            <a:fillRect/>
          </a:stretch>
        </p:blipFill>
        <p:spPr>
          <a:xfrm>
            <a:off x="7504906" y="5805204"/>
            <a:ext cx="9721376" cy="5970924"/>
          </a:xfrm>
          <a:prstGeom prst="rect">
            <a:avLst/>
          </a:prstGeom>
        </p:spPr>
      </p:pic>
      <p:sp>
        <p:nvSpPr>
          <p:cNvPr id="44" name="TextBox 43">
            <a:extLst>
              <a:ext uri="{FF2B5EF4-FFF2-40B4-BE49-F238E27FC236}">
                <a16:creationId xmlns:a16="http://schemas.microsoft.com/office/drawing/2014/main" id="{0A6DB7F8-399F-5DF6-214F-167D8C7FC607}"/>
              </a:ext>
            </a:extLst>
          </p:cNvPr>
          <p:cNvSpPr txBox="1"/>
          <p:nvPr/>
        </p:nvSpPr>
        <p:spPr>
          <a:xfrm>
            <a:off x="11489737" y="30914048"/>
            <a:ext cx="20911724" cy="538609"/>
          </a:xfrm>
          <a:prstGeom prst="rect">
            <a:avLst/>
          </a:prstGeom>
          <a:noFill/>
        </p:spPr>
        <p:txBody>
          <a:bodyPr wrap="square" lIns="91440" tIns="45720" rIns="91440" bIns="45720" rtlCol="0" anchor="t">
            <a:spAutoFit/>
          </a:bodyPr>
          <a:lstStyle/>
          <a:p>
            <a:pPr algn="ctr"/>
            <a:r>
              <a:rPr lang="en-US" sz="2900" dirty="0">
                <a:solidFill>
                  <a:schemeClr val="bg1"/>
                </a:solidFill>
                <a:latin typeface="Times"/>
                <a:cs typeface="Minion Pro"/>
              </a:rPr>
              <a:t>This work is supported in part by NASA grant #80NSSC20M0044 awarded to the Alabama Space Grant Consortium.</a:t>
            </a:r>
            <a:endParaRPr lang="en-US" sz="2800" dirty="0">
              <a:solidFill>
                <a:schemeClr val="bg1"/>
              </a:solidFill>
              <a:latin typeface="Times"/>
              <a:cs typeface="Times"/>
            </a:endParaRPr>
          </a:p>
        </p:txBody>
      </p:sp>
      <p:pic>
        <p:nvPicPr>
          <p:cNvPr id="58" name="Picture 57">
            <a:extLst>
              <a:ext uri="{FF2B5EF4-FFF2-40B4-BE49-F238E27FC236}">
                <a16:creationId xmlns:a16="http://schemas.microsoft.com/office/drawing/2014/main" id="{F5C4735B-8213-90F3-7F51-A38FA8F47CA4}"/>
              </a:ext>
            </a:extLst>
          </p:cNvPr>
          <p:cNvPicPr>
            <a:picLocks noChangeAspect="1"/>
          </p:cNvPicPr>
          <p:nvPr/>
        </p:nvPicPr>
        <p:blipFill>
          <a:blip r:embed="rId18"/>
          <a:stretch>
            <a:fillRect/>
          </a:stretch>
        </p:blipFill>
        <p:spPr>
          <a:xfrm>
            <a:off x="7368349" y="25517017"/>
            <a:ext cx="5389418" cy="4454441"/>
          </a:xfrm>
          <a:prstGeom prst="rect">
            <a:avLst/>
          </a:prstGeom>
        </p:spPr>
      </p:pic>
      <p:pic>
        <p:nvPicPr>
          <p:cNvPr id="59" name="Picture 2">
            <a:extLst>
              <a:ext uri="{FF2B5EF4-FFF2-40B4-BE49-F238E27FC236}">
                <a16:creationId xmlns:a16="http://schemas.microsoft.com/office/drawing/2014/main" id="{82F8FD99-1C02-B2CD-CDD2-271CB3D4255B}"/>
              </a:ext>
            </a:extLst>
          </p:cNvPr>
          <p:cNvPicPr>
            <a:picLocks noChangeAspect="1" noChangeArrowheads="1"/>
          </p:cNvPicPr>
          <p:nvPr/>
        </p:nvPicPr>
        <p:blipFill rotWithShape="1">
          <a:blip r:embed="rId19">
            <a:extLst>
              <a:ext uri="{28A0092B-C50C-407E-A947-70E740481C1C}">
                <a14:useLocalDpi xmlns:a14="http://schemas.microsoft.com/office/drawing/2010/main" val="0"/>
              </a:ext>
            </a:extLst>
          </a:blip>
          <a:srcRect l="50509" t="2907" r="-398" b="12412"/>
          <a:stretch/>
        </p:blipFill>
        <p:spPr bwMode="auto">
          <a:xfrm>
            <a:off x="27634530" y="22454715"/>
            <a:ext cx="3112885" cy="2775763"/>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61" descr="A close-up of a machine&#10;&#10;Description automatically generated">
            <a:extLst>
              <a:ext uri="{FF2B5EF4-FFF2-40B4-BE49-F238E27FC236}">
                <a16:creationId xmlns:a16="http://schemas.microsoft.com/office/drawing/2014/main" id="{6BBB93B3-3756-0B26-4368-B9C64F2254F4}"/>
              </a:ext>
            </a:extLst>
          </p:cNvPr>
          <p:cNvPicPr>
            <a:picLocks noChangeAspect="1"/>
          </p:cNvPicPr>
          <p:nvPr/>
        </p:nvPicPr>
        <p:blipFill>
          <a:blip r:embed="rId20"/>
          <a:stretch>
            <a:fillRect/>
          </a:stretch>
        </p:blipFill>
        <p:spPr>
          <a:xfrm>
            <a:off x="26604928" y="19925706"/>
            <a:ext cx="5451351" cy="3069455"/>
          </a:xfrm>
          <a:prstGeom prst="rect">
            <a:avLst/>
          </a:prstGeom>
        </p:spPr>
      </p:pic>
      <p:pic>
        <p:nvPicPr>
          <p:cNvPr id="73" name="Picture 72">
            <a:extLst>
              <a:ext uri="{FF2B5EF4-FFF2-40B4-BE49-F238E27FC236}">
                <a16:creationId xmlns:a16="http://schemas.microsoft.com/office/drawing/2014/main" id="{E659EB45-4DD9-E666-CDC6-424A7E935078}"/>
              </a:ext>
            </a:extLst>
          </p:cNvPr>
          <p:cNvPicPr>
            <a:picLocks noChangeAspect="1"/>
          </p:cNvPicPr>
          <p:nvPr/>
        </p:nvPicPr>
        <p:blipFill>
          <a:blip r:embed="rId21"/>
          <a:stretch>
            <a:fillRect/>
          </a:stretch>
        </p:blipFill>
        <p:spPr>
          <a:xfrm>
            <a:off x="27663047" y="25656962"/>
            <a:ext cx="3954587" cy="3752980"/>
          </a:xfrm>
          <a:prstGeom prst="rect">
            <a:avLst/>
          </a:prstGeom>
        </p:spPr>
      </p:pic>
      <p:pic>
        <p:nvPicPr>
          <p:cNvPr id="11" name="Picture 10">
            <a:extLst>
              <a:ext uri="{FF2B5EF4-FFF2-40B4-BE49-F238E27FC236}">
                <a16:creationId xmlns:a16="http://schemas.microsoft.com/office/drawing/2014/main" id="{010ABFD5-A79E-C833-D72F-8789D210934E}"/>
              </a:ext>
            </a:extLst>
          </p:cNvPr>
          <p:cNvPicPr>
            <a:picLocks noChangeAspect="1"/>
          </p:cNvPicPr>
          <p:nvPr/>
        </p:nvPicPr>
        <p:blipFill rotWithShape="1">
          <a:blip r:embed="rId22"/>
          <a:srcRect l="2262" t="5323"/>
          <a:stretch/>
        </p:blipFill>
        <p:spPr>
          <a:xfrm>
            <a:off x="33401339" y="21687535"/>
            <a:ext cx="8864085" cy="3649237"/>
          </a:xfrm>
          <a:prstGeom prst="rect">
            <a:avLst/>
          </a:prstGeom>
        </p:spPr>
      </p:pic>
      <p:grpSp>
        <p:nvGrpSpPr>
          <p:cNvPr id="14" name="Group 13">
            <a:extLst>
              <a:ext uri="{FF2B5EF4-FFF2-40B4-BE49-F238E27FC236}">
                <a16:creationId xmlns:a16="http://schemas.microsoft.com/office/drawing/2014/main" id="{8197487C-5BC6-EE8E-E3B7-7AE6BFF04A41}"/>
              </a:ext>
            </a:extLst>
          </p:cNvPr>
          <p:cNvGrpSpPr/>
          <p:nvPr/>
        </p:nvGrpSpPr>
        <p:grpSpPr>
          <a:xfrm>
            <a:off x="32973147" y="18815327"/>
            <a:ext cx="9783587" cy="928687"/>
            <a:chOff x="33148588" y="22194130"/>
            <a:chExt cx="10053637" cy="928687"/>
          </a:xfrm>
        </p:grpSpPr>
        <p:sp>
          <p:nvSpPr>
            <p:cNvPr id="16" name="Rectangle 15">
              <a:extLst>
                <a:ext uri="{FF2B5EF4-FFF2-40B4-BE49-F238E27FC236}">
                  <a16:creationId xmlns:a16="http://schemas.microsoft.com/office/drawing/2014/main" id="{CECECB1E-D9EE-268E-C035-68C68985FFE9}"/>
                </a:ext>
              </a:extLst>
            </p:cNvPr>
            <p:cNvSpPr/>
            <p:nvPr/>
          </p:nvSpPr>
          <p:spPr>
            <a:xfrm>
              <a:off x="33148588" y="22194130"/>
              <a:ext cx="10053637" cy="928687"/>
            </a:xfrm>
            <a:prstGeom prst="rect">
              <a:avLst/>
            </a:prstGeom>
            <a:solidFill>
              <a:srgbClr val="9C2334"/>
            </a:solidFill>
            <a:ln>
              <a:noFill/>
            </a:ln>
            <a:effectLst>
              <a:outerShdw blurRad="50800" dist="38100" dir="5400000" algn="t" rotWithShape="0">
                <a:prstClr val="black">
                  <a:alpha val="40000"/>
                </a:prstClr>
              </a:outerShdw>
            </a:effectLst>
          </p:spPr>
          <p:style>
            <a:lnRef idx="3">
              <a:schemeClr val="lt1"/>
            </a:lnRef>
            <a:fillRef idx="1">
              <a:schemeClr val="dk1"/>
            </a:fillRef>
            <a:effectRef idx="1">
              <a:schemeClr val="dk1"/>
            </a:effectRef>
            <a:fontRef idx="minor">
              <a:schemeClr val="lt1"/>
            </a:fontRef>
          </p:style>
          <p:txBody>
            <a:bodyPr anchor="ctr"/>
            <a:lstStyle/>
            <a:p>
              <a:pPr algn="ctr" defTabSz="2194560" fontAlgn="auto">
                <a:spcBef>
                  <a:spcPts val="0"/>
                </a:spcBef>
                <a:spcAft>
                  <a:spcPts val="0"/>
                </a:spcAft>
                <a:defRPr/>
              </a:pPr>
              <a:endParaRPr lang="en-US"/>
            </a:p>
          </p:txBody>
        </p:sp>
        <p:sp>
          <p:nvSpPr>
            <p:cNvPr id="17" name="TextBox 16">
              <a:extLst>
                <a:ext uri="{FF2B5EF4-FFF2-40B4-BE49-F238E27FC236}">
                  <a16:creationId xmlns:a16="http://schemas.microsoft.com/office/drawing/2014/main" id="{0D2C8007-3778-BC04-9DB1-E4028DF51E0D}"/>
                </a:ext>
              </a:extLst>
            </p:cNvPr>
            <p:cNvSpPr txBox="1"/>
            <p:nvPr/>
          </p:nvSpPr>
          <p:spPr>
            <a:xfrm>
              <a:off x="33689925" y="22230642"/>
              <a:ext cx="9083675" cy="781050"/>
            </a:xfrm>
            <a:prstGeom prst="rect">
              <a:avLst/>
            </a:prstGeom>
            <a:solidFill>
              <a:srgbClr val="9C2334"/>
            </a:solidFill>
            <a:ln>
              <a:noFill/>
            </a:ln>
            <a:effectLst/>
          </p:spPr>
          <p:style>
            <a:lnRef idx="3">
              <a:schemeClr val="lt1"/>
            </a:lnRef>
            <a:fillRef idx="1">
              <a:schemeClr val="dk1"/>
            </a:fillRef>
            <a:effectRef idx="1">
              <a:schemeClr val="dk1"/>
            </a:effectRef>
            <a:fontRef idx="minor">
              <a:schemeClr val="lt1"/>
            </a:fontRef>
          </p:style>
          <p:txBody>
            <a:bodyPr anchor="ct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2194560" fontAlgn="auto">
                <a:spcBef>
                  <a:spcPts val="0"/>
                </a:spcBef>
                <a:spcAft>
                  <a:spcPts val="0"/>
                </a:spcAft>
                <a:defRPr/>
              </a:pPr>
              <a:r>
                <a:rPr lang="en-US" sz="4400" dirty="0">
                  <a:solidFill>
                    <a:schemeClr val="bg1"/>
                  </a:solidFill>
                  <a:latin typeface="Verdana"/>
                  <a:cs typeface="Verdana"/>
                </a:rPr>
                <a:t>Future Works</a:t>
              </a:r>
            </a:p>
          </p:txBody>
        </p:sp>
      </p:grpSp>
      <p:sp>
        <p:nvSpPr>
          <p:cNvPr id="21" name="TextBox 20">
            <a:extLst>
              <a:ext uri="{FF2B5EF4-FFF2-40B4-BE49-F238E27FC236}">
                <a16:creationId xmlns:a16="http://schemas.microsoft.com/office/drawing/2014/main" id="{DFDA01F8-6569-3ED4-D5B4-B091526A3612}"/>
              </a:ext>
            </a:extLst>
          </p:cNvPr>
          <p:cNvSpPr txBox="1"/>
          <p:nvPr/>
        </p:nvSpPr>
        <p:spPr>
          <a:xfrm>
            <a:off x="32982551" y="19821939"/>
            <a:ext cx="9766161" cy="1877437"/>
          </a:xfrm>
          <a:prstGeom prst="rect">
            <a:avLst/>
          </a:prstGeom>
          <a:noFill/>
        </p:spPr>
        <p:txBody>
          <a:bodyPr wrap="square" lIns="91440" tIns="45720" rIns="91440" bIns="45720" rtlCol="0" anchor="t">
            <a:spAutoFit/>
          </a:bodyPr>
          <a:lstStyle/>
          <a:p>
            <a:pPr marL="457200" indent="-457200">
              <a:buFont typeface="Arial" panose="020B0604020202020204" pitchFamily="34" charset="0"/>
              <a:buChar char="•"/>
            </a:pPr>
            <a:r>
              <a:rPr lang="en-US" sz="2900" dirty="0">
                <a:solidFill>
                  <a:schemeClr val="accent6"/>
                </a:solidFill>
                <a:latin typeface="Times"/>
                <a:cs typeface="Minion Pro"/>
              </a:rPr>
              <a:t>Active shape morphing visualized in Fig. 7</a:t>
            </a:r>
          </a:p>
          <a:p>
            <a:pPr marL="457200" indent="-457200">
              <a:buFont typeface="Arial" panose="020B0604020202020204" pitchFamily="34" charset="0"/>
              <a:buChar char="•"/>
            </a:pPr>
            <a:r>
              <a:rPr lang="en-US" sz="2900" dirty="0">
                <a:solidFill>
                  <a:schemeClr val="accent6"/>
                </a:solidFill>
                <a:latin typeface="Times"/>
                <a:cs typeface="Minion Pro"/>
              </a:rPr>
              <a:t>Complex movements including jumping and slipping</a:t>
            </a:r>
          </a:p>
          <a:p>
            <a:pPr marL="457200" indent="-457200">
              <a:buFont typeface="Arial" panose="020B0604020202020204" pitchFamily="34" charset="0"/>
              <a:buChar char="•"/>
            </a:pPr>
            <a:r>
              <a:rPr lang="en-US" sz="2900" dirty="0">
                <a:solidFill>
                  <a:schemeClr val="accent6"/>
                </a:solidFill>
                <a:latin typeface="Times"/>
                <a:cs typeface="Minion Pro"/>
              </a:rPr>
              <a:t>Dynamic modeling</a:t>
            </a:r>
          </a:p>
          <a:p>
            <a:pPr marL="457200" indent="-457200">
              <a:buFont typeface="Arial" panose="020B0604020202020204" pitchFamily="34" charset="0"/>
              <a:buChar char="•"/>
            </a:pPr>
            <a:r>
              <a:rPr lang="en-US" sz="2900" dirty="0">
                <a:solidFill>
                  <a:schemeClr val="accent6"/>
                </a:solidFill>
                <a:latin typeface="Times"/>
                <a:cs typeface="Minion Pro"/>
              </a:rPr>
              <a:t>Using accelerometer + gyroscope data in closed-loop system</a:t>
            </a:r>
            <a:endParaRPr lang="en-US" sz="2800" dirty="0">
              <a:solidFill>
                <a:schemeClr val="bg1">
                  <a:lumMod val="50000"/>
                </a:schemeClr>
              </a:solidFill>
              <a:latin typeface="Times"/>
              <a:cs typeface="Times"/>
            </a:endParaRPr>
          </a:p>
        </p:txBody>
      </p:sp>
      <p:sp>
        <p:nvSpPr>
          <p:cNvPr id="24" name="TextBox 23">
            <a:extLst>
              <a:ext uri="{FF2B5EF4-FFF2-40B4-BE49-F238E27FC236}">
                <a16:creationId xmlns:a16="http://schemas.microsoft.com/office/drawing/2014/main" id="{50238C45-B74C-5AE1-5AFA-AF54FC0982A4}"/>
              </a:ext>
            </a:extLst>
          </p:cNvPr>
          <p:cNvSpPr txBox="1"/>
          <p:nvPr/>
        </p:nvSpPr>
        <p:spPr>
          <a:xfrm>
            <a:off x="33630076" y="25372812"/>
            <a:ext cx="7718624" cy="538609"/>
          </a:xfrm>
          <a:prstGeom prst="rect">
            <a:avLst/>
          </a:prstGeom>
          <a:noFill/>
        </p:spPr>
        <p:txBody>
          <a:bodyPr wrap="square" lIns="91440" tIns="45720" rIns="91440" bIns="45720" rtlCol="0" anchor="t">
            <a:spAutoFit/>
          </a:bodyPr>
          <a:lstStyle/>
          <a:p>
            <a:pPr algn="ctr"/>
            <a:r>
              <a:rPr lang="en-US" sz="2900" dirty="0">
                <a:solidFill>
                  <a:schemeClr val="accent6"/>
                </a:solidFill>
                <a:latin typeface="Times"/>
                <a:cs typeface="Minion Pro"/>
              </a:rPr>
              <a:t>Fig. 7: 2D to 3D Shape Reconfiguration</a:t>
            </a:r>
            <a:endParaRPr lang="en-US" sz="2900" dirty="0">
              <a:solidFill>
                <a:schemeClr val="bg1">
                  <a:lumMod val="50000"/>
                </a:schemeClr>
              </a:solidFill>
              <a:latin typeface="Times"/>
              <a:cs typeface="Times"/>
            </a:endParaRPr>
          </a:p>
        </p:txBody>
      </p:sp>
      <p:pic>
        <p:nvPicPr>
          <p:cNvPr id="35" name="Picture 34">
            <a:extLst>
              <a:ext uri="{FF2B5EF4-FFF2-40B4-BE49-F238E27FC236}">
                <a16:creationId xmlns:a16="http://schemas.microsoft.com/office/drawing/2014/main" id="{630E0248-20B1-94D0-7DCF-D8F4DC1412D6}"/>
              </a:ext>
            </a:extLst>
          </p:cNvPr>
          <p:cNvPicPr>
            <a:picLocks noChangeAspect="1"/>
          </p:cNvPicPr>
          <p:nvPr/>
        </p:nvPicPr>
        <p:blipFill>
          <a:blip r:embed="rId23"/>
          <a:stretch>
            <a:fillRect/>
          </a:stretch>
        </p:blipFill>
        <p:spPr>
          <a:xfrm>
            <a:off x="36531515" y="5852418"/>
            <a:ext cx="5312646" cy="2179139"/>
          </a:xfrm>
          <a:prstGeom prst="rect">
            <a:avLst/>
          </a:prstGeom>
        </p:spPr>
      </p:pic>
      <p:sp>
        <p:nvSpPr>
          <p:cNvPr id="38" name="TextBox 37">
            <a:extLst>
              <a:ext uri="{FF2B5EF4-FFF2-40B4-BE49-F238E27FC236}">
                <a16:creationId xmlns:a16="http://schemas.microsoft.com/office/drawing/2014/main" id="{7ECF29D7-EE31-ACF3-BDAC-EF9AF6D65A47}"/>
              </a:ext>
            </a:extLst>
          </p:cNvPr>
          <p:cNvSpPr txBox="1"/>
          <p:nvPr/>
        </p:nvSpPr>
        <p:spPr>
          <a:xfrm>
            <a:off x="36699509" y="7977963"/>
            <a:ext cx="4976657" cy="538609"/>
          </a:xfrm>
          <a:prstGeom prst="rect">
            <a:avLst/>
          </a:prstGeom>
          <a:noFill/>
        </p:spPr>
        <p:txBody>
          <a:bodyPr wrap="square" lIns="91440" tIns="45720" rIns="91440" bIns="45720" rtlCol="0" anchor="t">
            <a:spAutoFit/>
          </a:bodyPr>
          <a:lstStyle/>
          <a:p>
            <a:pPr algn="ctr"/>
            <a:r>
              <a:rPr lang="en-US" sz="2900" dirty="0">
                <a:solidFill>
                  <a:schemeClr val="accent6"/>
                </a:solidFill>
                <a:latin typeface="Times"/>
                <a:cs typeface="Minion Pro"/>
              </a:rPr>
              <a:t>Table 1: Hybrid System States</a:t>
            </a:r>
            <a:endParaRPr lang="en-US" sz="2900" dirty="0">
              <a:solidFill>
                <a:schemeClr val="bg1">
                  <a:lumMod val="50000"/>
                </a:schemeClr>
              </a:solidFill>
              <a:latin typeface="Times"/>
              <a:cs typeface="Times"/>
            </a:endParaRPr>
          </a:p>
        </p:txBody>
      </p:sp>
      <p:pic>
        <p:nvPicPr>
          <p:cNvPr id="68" name="Picture 67">
            <a:extLst>
              <a:ext uri="{FF2B5EF4-FFF2-40B4-BE49-F238E27FC236}">
                <a16:creationId xmlns:a16="http://schemas.microsoft.com/office/drawing/2014/main" id="{D4ACFD19-B367-CEA1-AF97-C430D29C292D}"/>
              </a:ext>
            </a:extLst>
          </p:cNvPr>
          <p:cNvPicPr>
            <a:picLocks noChangeAspect="1"/>
          </p:cNvPicPr>
          <p:nvPr/>
        </p:nvPicPr>
        <p:blipFill rotWithShape="1">
          <a:blip r:embed="rId24"/>
          <a:srcRect l="1732" t="41810"/>
          <a:stretch/>
        </p:blipFill>
        <p:spPr>
          <a:xfrm>
            <a:off x="35810776" y="14752082"/>
            <a:ext cx="6616171" cy="3112256"/>
          </a:xfrm>
          <a:prstGeom prst="rect">
            <a:avLst/>
          </a:prstGeom>
        </p:spPr>
      </p:pic>
      <p:sp>
        <p:nvSpPr>
          <p:cNvPr id="52" name="TextBox 51">
            <a:extLst>
              <a:ext uri="{FF2B5EF4-FFF2-40B4-BE49-F238E27FC236}">
                <a16:creationId xmlns:a16="http://schemas.microsoft.com/office/drawing/2014/main" id="{B80B500A-D617-50B5-B191-708B957C8638}"/>
              </a:ext>
            </a:extLst>
          </p:cNvPr>
          <p:cNvSpPr txBox="1"/>
          <p:nvPr/>
        </p:nvSpPr>
        <p:spPr>
          <a:xfrm>
            <a:off x="41467157" y="15848183"/>
            <a:ext cx="617477" cy="538609"/>
          </a:xfrm>
          <a:prstGeom prst="rect">
            <a:avLst/>
          </a:prstGeom>
          <a:noFill/>
        </p:spPr>
        <p:txBody>
          <a:bodyPr wrap="none" rtlCol="0">
            <a:spAutoFit/>
          </a:bodyPr>
          <a:lstStyle/>
          <a:p>
            <a:r>
              <a:rPr lang="en-US" sz="2900" b="1" dirty="0">
                <a:solidFill>
                  <a:schemeClr val="accent4"/>
                </a:solidFill>
                <a:latin typeface="Times" panose="02020603050405020304" pitchFamily="18" charset="0"/>
                <a:cs typeface="Times" panose="02020603050405020304" pitchFamily="18" charset="0"/>
              </a:rPr>
              <a:t>(1)</a:t>
            </a:r>
          </a:p>
        </p:txBody>
      </p:sp>
      <p:sp>
        <p:nvSpPr>
          <p:cNvPr id="39" name="TextBox 38">
            <a:extLst>
              <a:ext uri="{FF2B5EF4-FFF2-40B4-BE49-F238E27FC236}">
                <a16:creationId xmlns:a16="http://schemas.microsoft.com/office/drawing/2014/main" id="{FC24E282-19DA-0154-A6A7-F6C88158E92C}"/>
              </a:ext>
            </a:extLst>
          </p:cNvPr>
          <p:cNvSpPr txBox="1"/>
          <p:nvPr/>
        </p:nvSpPr>
        <p:spPr>
          <a:xfrm>
            <a:off x="27303312" y="19937006"/>
            <a:ext cx="2542684" cy="584775"/>
          </a:xfrm>
          <a:prstGeom prst="rect">
            <a:avLst/>
          </a:prstGeom>
          <a:noFill/>
        </p:spPr>
        <p:txBody>
          <a:bodyPr wrap="none" rtlCol="0">
            <a:spAutoFit/>
          </a:bodyPr>
          <a:lstStyle/>
          <a:p>
            <a:r>
              <a:rPr lang="en-US" sz="3200" b="1" dirty="0">
                <a:solidFill>
                  <a:schemeClr val="accent6"/>
                </a:solidFill>
                <a:latin typeface="Times New Roman" panose="02020603050405020304" pitchFamily="18" charset="0"/>
                <a:cs typeface="Times New Roman" panose="02020603050405020304" pitchFamily="18" charset="0"/>
              </a:rPr>
              <a:t>Shifting mass</a:t>
            </a:r>
            <a:endParaRPr lang="en-US" sz="2400" b="1" dirty="0">
              <a:solidFill>
                <a:schemeClr val="accent6"/>
              </a:solidFill>
              <a:latin typeface="Times New Roman" panose="02020603050405020304" pitchFamily="18" charset="0"/>
              <a:cs typeface="Times New Roman" panose="02020603050405020304" pitchFamily="18" charset="0"/>
            </a:endParaRPr>
          </a:p>
        </p:txBody>
      </p:sp>
      <p:cxnSp>
        <p:nvCxnSpPr>
          <p:cNvPr id="43" name="Straight Arrow Connector 42">
            <a:extLst>
              <a:ext uri="{FF2B5EF4-FFF2-40B4-BE49-F238E27FC236}">
                <a16:creationId xmlns:a16="http://schemas.microsoft.com/office/drawing/2014/main" id="{2F2EB007-4E2F-18A0-12F5-D776663674C5}"/>
              </a:ext>
            </a:extLst>
          </p:cNvPr>
          <p:cNvCxnSpPr>
            <a:cxnSpLocks/>
          </p:cNvCxnSpPr>
          <p:nvPr/>
        </p:nvCxnSpPr>
        <p:spPr>
          <a:xfrm>
            <a:off x="28957889" y="20492683"/>
            <a:ext cx="0" cy="347179"/>
          </a:xfrm>
          <a:prstGeom prst="straightConnector1">
            <a:avLst/>
          </a:prstGeom>
          <a:ln w="5715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pic>
        <p:nvPicPr>
          <p:cNvPr id="63" name="Picture 62">
            <a:extLst>
              <a:ext uri="{FF2B5EF4-FFF2-40B4-BE49-F238E27FC236}">
                <a16:creationId xmlns:a16="http://schemas.microsoft.com/office/drawing/2014/main" id="{03DD1917-CE15-9DAB-6905-799B154585B4}"/>
              </a:ext>
            </a:extLst>
          </p:cNvPr>
          <p:cNvPicPr>
            <a:picLocks noChangeAspect="1"/>
          </p:cNvPicPr>
          <p:nvPr/>
        </p:nvPicPr>
        <p:blipFill>
          <a:blip r:embed="rId25"/>
          <a:stretch>
            <a:fillRect/>
          </a:stretch>
        </p:blipFill>
        <p:spPr>
          <a:xfrm>
            <a:off x="37786008" y="13975264"/>
            <a:ext cx="2481283" cy="483532"/>
          </a:xfrm>
          <a:prstGeom prst="rect">
            <a:avLst/>
          </a:prstGeom>
        </p:spPr>
      </p:pic>
      <p:pic>
        <p:nvPicPr>
          <p:cNvPr id="55" name="Picture 54">
            <a:extLst>
              <a:ext uri="{FF2B5EF4-FFF2-40B4-BE49-F238E27FC236}">
                <a16:creationId xmlns:a16="http://schemas.microsoft.com/office/drawing/2014/main" id="{622CA700-3EFE-7A01-F649-0A41E4C60A96}"/>
              </a:ext>
            </a:extLst>
          </p:cNvPr>
          <p:cNvPicPr>
            <a:picLocks noChangeAspect="1"/>
          </p:cNvPicPr>
          <p:nvPr/>
        </p:nvPicPr>
        <p:blipFill>
          <a:blip r:embed="rId26"/>
          <a:stretch>
            <a:fillRect/>
          </a:stretch>
        </p:blipFill>
        <p:spPr>
          <a:xfrm>
            <a:off x="1366296" y="25410378"/>
            <a:ext cx="5068397" cy="4662152"/>
          </a:xfrm>
          <a:prstGeom prst="rect">
            <a:avLst/>
          </a:prstGeom>
        </p:spPr>
      </p:pic>
      <p:pic>
        <p:nvPicPr>
          <p:cNvPr id="65" name="Picture 64">
            <a:extLst>
              <a:ext uri="{FF2B5EF4-FFF2-40B4-BE49-F238E27FC236}">
                <a16:creationId xmlns:a16="http://schemas.microsoft.com/office/drawing/2014/main" id="{BB6D72F1-F2F9-C52D-3560-20BF09CA8388}"/>
              </a:ext>
            </a:extLst>
          </p:cNvPr>
          <p:cNvPicPr>
            <a:picLocks noChangeAspect="1"/>
          </p:cNvPicPr>
          <p:nvPr/>
        </p:nvPicPr>
        <p:blipFill>
          <a:blip r:embed="rId27"/>
          <a:stretch>
            <a:fillRect/>
          </a:stretch>
        </p:blipFill>
        <p:spPr>
          <a:xfrm>
            <a:off x="35551649" y="8776028"/>
            <a:ext cx="7160424" cy="3943007"/>
          </a:xfrm>
          <a:prstGeom prst="rect">
            <a:avLst/>
          </a:prstGeom>
        </p:spPr>
      </p:pic>
      <p:sp>
        <p:nvSpPr>
          <p:cNvPr id="66" name="TextBox 65">
            <a:extLst>
              <a:ext uri="{FF2B5EF4-FFF2-40B4-BE49-F238E27FC236}">
                <a16:creationId xmlns:a16="http://schemas.microsoft.com/office/drawing/2014/main" id="{74988778-05AD-EC53-D423-7B6649028FA4}"/>
              </a:ext>
            </a:extLst>
          </p:cNvPr>
          <p:cNvSpPr txBox="1"/>
          <p:nvPr/>
        </p:nvSpPr>
        <p:spPr>
          <a:xfrm>
            <a:off x="35418772" y="12739661"/>
            <a:ext cx="7718624" cy="538609"/>
          </a:xfrm>
          <a:prstGeom prst="rect">
            <a:avLst/>
          </a:prstGeom>
          <a:noFill/>
        </p:spPr>
        <p:txBody>
          <a:bodyPr wrap="square" lIns="91440" tIns="45720" rIns="91440" bIns="45720" rtlCol="0" anchor="t">
            <a:spAutoFit/>
          </a:bodyPr>
          <a:lstStyle/>
          <a:p>
            <a:pPr algn="ctr"/>
            <a:r>
              <a:rPr lang="en-US" sz="2900" dirty="0">
                <a:solidFill>
                  <a:schemeClr val="accent6"/>
                </a:solidFill>
                <a:latin typeface="Times"/>
                <a:cs typeface="Minion Pro"/>
              </a:rPr>
              <a:t>Fig. 6: TeXploreR Static Position</a:t>
            </a:r>
            <a:endParaRPr lang="en-US" sz="2900" dirty="0">
              <a:solidFill>
                <a:schemeClr val="bg1">
                  <a:lumMod val="50000"/>
                </a:schemeClr>
              </a:solidFill>
              <a:latin typeface="Times"/>
              <a:cs typeface="Times"/>
            </a:endParaRPr>
          </a:p>
        </p:txBody>
      </p:sp>
      <p:sp>
        <p:nvSpPr>
          <p:cNvPr id="67" name="Rectangle: Rounded Corners 66">
            <a:extLst>
              <a:ext uri="{FF2B5EF4-FFF2-40B4-BE49-F238E27FC236}">
                <a16:creationId xmlns:a16="http://schemas.microsoft.com/office/drawing/2014/main" id="{A1BFC3FF-AAB4-5349-2088-F00D73AAFC02}"/>
              </a:ext>
            </a:extLst>
          </p:cNvPr>
          <p:cNvSpPr/>
          <p:nvPr/>
        </p:nvSpPr>
        <p:spPr>
          <a:xfrm>
            <a:off x="28542570" y="21026774"/>
            <a:ext cx="1383636" cy="1217120"/>
          </a:xfrm>
          <a:prstGeom prst="roundRect">
            <a:avLst/>
          </a:prstGeom>
          <a:noFill/>
          <a:ln w="5715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75" name="Rectangle 74">
                <a:extLst>
                  <a:ext uri="{FF2B5EF4-FFF2-40B4-BE49-F238E27FC236}">
                    <a16:creationId xmlns:a16="http://schemas.microsoft.com/office/drawing/2014/main" id="{6E6C15DA-CF82-CA65-D791-42971504BC47}"/>
                  </a:ext>
                </a:extLst>
              </p:cNvPr>
              <p:cNvSpPr/>
              <p:nvPr/>
            </p:nvSpPr>
            <p:spPr>
              <a:xfrm>
                <a:off x="36975198" y="8394194"/>
                <a:ext cx="4299759" cy="866849"/>
              </a:xfrm>
              <a:prstGeom prst="rect">
                <a:avLst/>
              </a:prstGeom>
              <a:solidFill>
                <a:srgbClr val="F0F0F0"/>
              </a:solidFill>
              <a:ln>
                <a:noFill/>
              </a:ln>
            </p:spPr>
            <p:style>
              <a:lnRef idx="2">
                <a:schemeClr val="dk1"/>
              </a:lnRef>
              <a:fillRef idx="1">
                <a:schemeClr val="lt1"/>
              </a:fillRef>
              <a:effectRef idx="0">
                <a:schemeClr val="dk1"/>
              </a:effectRef>
              <a:fontRef idx="minor">
                <a:schemeClr val="dk1"/>
              </a:fontRef>
            </p:style>
            <p:txBody>
              <a:bodyPr rtlCol="0" anchor="t" anchorCtr="0"/>
              <a:lstStyle/>
              <a:p>
                <a:pPr algn="ctr"/>
                <a14:m>
                  <m:oMathPara xmlns:m="http://schemas.openxmlformats.org/officeDocument/2006/math">
                    <m:oMathParaPr>
                      <m:jc m:val="center"/>
                    </m:oMathParaPr>
                    <m:oMath xmlns:m="http://schemas.openxmlformats.org/officeDocument/2006/math">
                      <m:sSub>
                        <m:sSubPr>
                          <m:ctrlPr>
                            <a:rPr lang="en-US" sz="4000" b="0" i="1" baseline="-25000" smtClean="0">
                              <a:solidFill>
                                <a:schemeClr val="accent6"/>
                              </a:solidFill>
                              <a:latin typeface="Cambria Math" panose="02040503050406030204" pitchFamily="18" charset="0"/>
                            </a:rPr>
                          </m:ctrlPr>
                        </m:sSubPr>
                        <m:e>
                          <m:r>
                            <a:rPr lang="en-US" sz="4000" b="0" i="1" baseline="-25000" smtClean="0">
                              <a:solidFill>
                                <a:schemeClr val="accent6"/>
                              </a:solidFill>
                              <a:latin typeface="Cambria Math" panose="02040503050406030204" pitchFamily="18" charset="0"/>
                            </a:rPr>
                            <m:t>𝜙</m:t>
                          </m:r>
                        </m:e>
                        <m:sub>
                          <m:r>
                            <a:rPr lang="en-US" sz="4000" b="0" i="1" baseline="-25000" smtClean="0">
                              <a:solidFill>
                                <a:schemeClr val="accent6"/>
                              </a:solidFill>
                              <a:latin typeface="Cambria Math" panose="02040503050406030204" pitchFamily="18" charset="0"/>
                            </a:rPr>
                            <m:t>1</m:t>
                          </m:r>
                        </m:sub>
                      </m:sSub>
                      <m:r>
                        <a:rPr lang="en-US" sz="4000" b="0" i="1" baseline="-25000" smtClean="0">
                          <a:solidFill>
                            <a:schemeClr val="accent6"/>
                          </a:solidFill>
                          <a:latin typeface="Cambria Math" panose="02040503050406030204" pitchFamily="18" charset="0"/>
                        </a:rPr>
                        <m:t>=0</m:t>
                      </m:r>
                      <m:r>
                        <a:rPr lang="en-US" sz="4000" b="0" i="1" baseline="-25000" smtClean="0">
                          <a:solidFill>
                            <a:schemeClr val="accent6"/>
                          </a:solidFill>
                          <a:latin typeface="Cambria Math" panose="02040503050406030204" pitchFamily="18" charset="0"/>
                          <a:ea typeface="Cambria Math" panose="02040503050406030204" pitchFamily="18" charset="0"/>
                        </a:rPr>
                        <m:t>°, </m:t>
                      </m:r>
                      <m:sSub>
                        <m:sSubPr>
                          <m:ctrlPr>
                            <a:rPr lang="en-US" sz="4000" b="0" i="1" baseline="-25000" smtClean="0">
                              <a:solidFill>
                                <a:schemeClr val="accent6"/>
                              </a:solidFill>
                              <a:latin typeface="Cambria Math" panose="02040503050406030204" pitchFamily="18" charset="0"/>
                              <a:ea typeface="Cambria Math" panose="02040503050406030204" pitchFamily="18" charset="0"/>
                            </a:rPr>
                          </m:ctrlPr>
                        </m:sSubPr>
                        <m:e>
                          <m:r>
                            <a:rPr lang="en-US" sz="4000" b="0" i="1" baseline="-25000" smtClean="0">
                              <a:solidFill>
                                <a:schemeClr val="accent6"/>
                              </a:solidFill>
                              <a:latin typeface="Cambria Math" panose="02040503050406030204" pitchFamily="18" charset="0"/>
                              <a:ea typeface="Cambria Math" panose="02040503050406030204" pitchFamily="18" charset="0"/>
                            </a:rPr>
                            <m:t>𝜙</m:t>
                          </m:r>
                        </m:e>
                        <m:sub>
                          <m:r>
                            <a:rPr lang="en-US" sz="4000" b="0" i="1" baseline="-25000" smtClean="0">
                              <a:solidFill>
                                <a:schemeClr val="accent6"/>
                              </a:solidFill>
                              <a:latin typeface="Cambria Math" panose="02040503050406030204" pitchFamily="18" charset="0"/>
                              <a:ea typeface="Cambria Math" panose="02040503050406030204" pitchFamily="18" charset="0"/>
                            </a:rPr>
                            <m:t>2</m:t>
                          </m:r>
                        </m:sub>
                      </m:sSub>
                      <m:r>
                        <a:rPr lang="en-US" sz="4000" b="0" i="1" baseline="-25000" smtClean="0">
                          <a:solidFill>
                            <a:schemeClr val="accent6"/>
                          </a:solidFill>
                          <a:latin typeface="Cambria Math" panose="02040503050406030204" pitchFamily="18" charset="0"/>
                          <a:ea typeface="Cambria Math" panose="02040503050406030204" pitchFamily="18" charset="0"/>
                        </a:rPr>
                        <m:t>=112°</m:t>
                      </m:r>
                    </m:oMath>
                  </m:oMathPara>
                </a14:m>
                <a:endParaRPr lang="en-US" sz="2800" baseline="-25000" dirty="0">
                  <a:solidFill>
                    <a:schemeClr val="accent6"/>
                  </a:solidFill>
                </a:endParaRPr>
              </a:p>
            </p:txBody>
          </p:sp>
        </mc:Choice>
        <mc:Fallback>
          <p:sp>
            <p:nvSpPr>
              <p:cNvPr id="75" name="Rectangle 74">
                <a:extLst>
                  <a:ext uri="{FF2B5EF4-FFF2-40B4-BE49-F238E27FC236}">
                    <a16:creationId xmlns:a16="http://schemas.microsoft.com/office/drawing/2014/main" id="{6E6C15DA-CF82-CA65-D791-42971504BC47}"/>
                  </a:ext>
                </a:extLst>
              </p:cNvPr>
              <p:cNvSpPr>
                <a:spLocks noRot="1" noChangeAspect="1" noMove="1" noResize="1" noEditPoints="1" noAdjustHandles="1" noChangeArrowheads="1" noChangeShapeType="1" noTextEdit="1"/>
              </p:cNvSpPr>
              <p:nvPr/>
            </p:nvSpPr>
            <p:spPr>
              <a:xfrm>
                <a:off x="36975198" y="8394194"/>
                <a:ext cx="4299759" cy="866849"/>
              </a:xfrm>
              <a:prstGeom prst="rect">
                <a:avLst/>
              </a:prstGeom>
              <a:blipFill>
                <a:blip r:embed="rId28"/>
                <a:stretch>
                  <a:fillRect b="-1408"/>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900888982"/>
      </p:ext>
    </p:extLst>
  </p:cSld>
  <p:clrMapOvr>
    <a:masterClrMapping/>
  </p:clrMapOvr>
  <p:extLst>
    <p:ext uri="{6950BFC3-D8DA-4A85-94F7-54DA5524770B}">
      <p188:commentRel xmlns:p188="http://schemas.microsoft.com/office/powerpoint/2018/8/main" r:id="rId3"/>
    </p:ext>
  </p:extLst>
</p:sld>
</file>

<file path=ppt/theme/theme1.xml><?xml version="1.0" encoding="utf-8"?>
<a:theme xmlns:a="http://schemas.openxmlformats.org/drawingml/2006/main" name="UATheme">
  <a:themeElements>
    <a:clrScheme name="Custom 2">
      <a:dk1>
        <a:srgbClr val="A32638"/>
      </a:dk1>
      <a:lt1>
        <a:sysClr val="window" lastClr="FFFFFF"/>
      </a:lt1>
      <a:dk2>
        <a:srgbClr val="A32638"/>
      </a:dk2>
      <a:lt2>
        <a:srgbClr val="8C7D70"/>
      </a:lt2>
      <a:accent1>
        <a:srgbClr val="7D7061"/>
      </a:accent1>
      <a:accent2>
        <a:srgbClr val="A32638"/>
      </a:accent2>
      <a:accent3>
        <a:srgbClr val="6B5C4F"/>
      </a:accent3>
      <a:accent4>
        <a:srgbClr val="332B3D"/>
      </a:accent4>
      <a:accent5>
        <a:srgbClr val="7D7061"/>
      </a:accent5>
      <a:accent6>
        <a:srgbClr val="000000"/>
      </a:accent6>
      <a:hlink>
        <a:srgbClr val="0000FF"/>
      </a:hlink>
      <a:folHlink>
        <a:srgbClr val="800080"/>
      </a:folHlink>
    </a:clrScheme>
    <a:fontScheme name="Module">
      <a:majorFont>
        <a:latin typeface="Corbel"/>
        <a:ea typeface=""/>
        <a:cs typeface=""/>
        <a:font script="Jpan" typeface="ＭＳ ゴシック"/>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ＭＳ ゴシック"/>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2f851e14-8e63-4033-bd0e-93d707650585" xsi:nil="true"/>
    <lcf76f155ced4ddcb4097134ff3c332f xmlns="5ae712d7-ddcb-4b07-ab04-a17d92f3001d">
      <Terms xmlns="http://schemas.microsoft.com/office/infopath/2007/PartnerControls"/>
    </lcf76f155ced4ddcb4097134ff3c332f>
    <SharedWithUsers xmlns="2f851e14-8e63-4033-bd0e-93d707650585">
      <UserInfo>
        <DisplayName>Alex Nail</DisplayName>
        <AccountId>30</AccountId>
        <AccountType/>
      </UserInfo>
    </SharedWithUser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CCA334A9BBB0647B3D517AC90920118" ma:contentTypeVersion="17" ma:contentTypeDescription="Create a new document." ma:contentTypeScope="" ma:versionID="6fd070484689cc40237aac181175cf38">
  <xsd:schema xmlns:xsd="http://www.w3.org/2001/XMLSchema" xmlns:xs="http://www.w3.org/2001/XMLSchema" xmlns:p="http://schemas.microsoft.com/office/2006/metadata/properties" xmlns:ns2="5ae712d7-ddcb-4b07-ab04-a17d92f3001d" xmlns:ns3="2f851e14-8e63-4033-bd0e-93d707650585" targetNamespace="http://schemas.microsoft.com/office/2006/metadata/properties" ma:root="true" ma:fieldsID="81ff35eed6de2f192716e6d0a772cce2" ns2:_="" ns3:_="">
    <xsd:import namespace="5ae712d7-ddcb-4b07-ab04-a17d92f3001d"/>
    <xsd:import namespace="2f851e14-8e63-4033-bd0e-93d707650585"/>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MediaServiceObjectDetectorVersion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ae712d7-ddcb-4b07-ab04-a17d92f3001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ccab473c-064c-4c61-8ef3-0c94a3d35594"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Location" ma:index="24"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f851e14-8e63-4033-bd0e-93d70765058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170865bb-d3ee-4f02-8712-bca1a455b11a}" ma:internalName="TaxCatchAll" ma:showField="CatchAllData" ma:web="2f851e14-8e63-4033-bd0e-93d70765058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04024D9-4B0E-4DB6-8AD2-581E3E804671}">
  <ds:schemaRefs>
    <ds:schemaRef ds:uri="http://purl.org/dc/elements/1.1/"/>
    <ds:schemaRef ds:uri="5ae712d7-ddcb-4b07-ab04-a17d92f3001d"/>
    <ds:schemaRef ds:uri="http://schemas.microsoft.com/office/2006/metadata/properties"/>
    <ds:schemaRef ds:uri="http://schemas.microsoft.com/office/2006/documentManagement/types"/>
    <ds:schemaRef ds:uri="http://purl.org/dc/terms/"/>
    <ds:schemaRef ds:uri="2f851e14-8e63-4033-bd0e-93d707650585"/>
    <ds:schemaRef ds:uri="http://schemas.openxmlformats.org/package/2006/metadata/core-properties"/>
    <ds:schemaRef ds:uri="http://schemas.microsoft.com/office/infopath/2007/PartnerControls"/>
    <ds:schemaRef ds:uri="http://www.w3.org/XML/1998/namespace"/>
    <ds:schemaRef ds:uri="http://purl.org/dc/dcmitype/"/>
  </ds:schemaRefs>
</ds:datastoreItem>
</file>

<file path=customXml/itemProps2.xml><?xml version="1.0" encoding="utf-8"?>
<ds:datastoreItem xmlns:ds="http://schemas.openxmlformats.org/officeDocument/2006/customXml" ds:itemID="{7F89E9A6-77C0-4C2B-807D-E8616337ED8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ae712d7-ddcb-4b07-ab04-a17d92f3001d"/>
    <ds:schemaRef ds:uri="2f851e14-8e63-4033-bd0e-93d7076505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01815CC-436F-4A63-9BAE-7B03A796014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UATheme.thmx</Template>
  <TotalTime>12366</TotalTime>
  <Words>1422</Words>
  <Application>Microsoft Office PowerPoint</Application>
  <PresentationFormat>Custom</PresentationFormat>
  <Paragraphs>65</Paragraphs>
  <Slides>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Arial</vt:lpstr>
      <vt:lpstr>Calibri</vt:lpstr>
      <vt:lpstr>Cambria Math</vt:lpstr>
      <vt:lpstr>Corbel</vt:lpstr>
      <vt:lpstr>Times</vt:lpstr>
      <vt:lpstr>Times New Roman</vt:lpstr>
      <vt:lpstr>Verdana</vt:lpstr>
      <vt:lpstr>UATheme</vt:lpstr>
      <vt:lpstr>PowerPoint Presentation</vt:lpstr>
    </vt:vector>
  </TitlesOfParts>
  <Company>University Libraries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Sanford Media Center</dc:creator>
  <cp:lastModifiedBy>Lauren Faris</cp:lastModifiedBy>
  <cp:revision>711</cp:revision>
  <cp:lastPrinted>2023-08-14T16:11:43Z</cp:lastPrinted>
  <dcterms:created xsi:type="dcterms:W3CDTF">2013-11-01T13:54:30Z</dcterms:created>
  <dcterms:modified xsi:type="dcterms:W3CDTF">2023-08-17T20:06:27Z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0x0101003CCA334A9BBB0647B3D517AC90920118</vt:lpwstr>
  </property>
</Properties>
</file>